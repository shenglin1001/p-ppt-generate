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896" r:id="rId2"/>
    <p:sldId id="2998" r:id="rId3"/>
    <p:sldId id="3016" r:id="rId4"/>
    <p:sldId id="3012" r:id="rId5"/>
    <p:sldId id="2999" r:id="rId6"/>
    <p:sldId id="3021" r:id="rId7"/>
    <p:sldId id="3041" r:id="rId8"/>
    <p:sldId id="2953" r:id="rId9"/>
    <p:sldId id="564" r:id="rId10"/>
    <p:sldId id="294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7469" userDrawn="1">
          <p15:clr>
            <a:srgbClr val="A4A3A4"/>
          </p15:clr>
        </p15:guide>
        <p15:guide id="7" orient="horz" pos="4088" userDrawn="1">
          <p15:clr>
            <a:srgbClr val="A4A3A4"/>
          </p15:clr>
        </p15:guide>
        <p15:guide id="8" orient="horz" pos="595" userDrawn="1">
          <p15:clr>
            <a:srgbClr val="A4A3A4"/>
          </p15:clr>
        </p15:guide>
        <p15:guide id="10" orient="horz" pos="368" userDrawn="1">
          <p15:clr>
            <a:srgbClr val="A4A3A4"/>
          </p15:clr>
        </p15:guide>
        <p15:guide id="11" pos="3795" userDrawn="1">
          <p15:clr>
            <a:srgbClr val="A4A3A4"/>
          </p15:clr>
        </p15:guide>
        <p15:guide id="13" orient="horz" pos="2750" userDrawn="1">
          <p15:clr>
            <a:srgbClr val="A4A3A4"/>
          </p15:clr>
        </p15:guide>
        <p15:guide id="14" orient="horz" pos="1911" userDrawn="1">
          <p15:clr>
            <a:srgbClr val="A4A3A4"/>
          </p15:clr>
        </p15:guide>
        <p15:guide id="15" pos="12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Q Z" initials="GZ" lastIdx="1" clrIdx="0">
    <p:extLst>
      <p:ext uri="{19B8F6BF-5375-455C-9EA6-DF929625EA0E}">
        <p15:presenceInfo xmlns:p15="http://schemas.microsoft.com/office/powerpoint/2012/main" userId="27a2fddf4d2c68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D0D0DE"/>
    <a:srgbClr val="EBEBF1"/>
    <a:srgbClr val="FBFCFD"/>
    <a:srgbClr val="0000FF"/>
    <a:srgbClr val="DAE7F8"/>
    <a:srgbClr val="DEEBFC"/>
    <a:srgbClr val="E5F9CD"/>
    <a:srgbClr val="ABC0E5"/>
    <a:srgbClr val="5F7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6" autoAdjust="0"/>
    <p:restoredTop sz="90960" autoAdjust="0"/>
  </p:normalViewPr>
  <p:slideViewPr>
    <p:cSldViewPr snapToGrid="0">
      <p:cViewPr>
        <p:scale>
          <a:sx n="100" d="100"/>
          <a:sy n="100" d="100"/>
        </p:scale>
        <p:origin x="1044" y="108"/>
      </p:cViewPr>
      <p:guideLst>
        <p:guide pos="7469"/>
        <p:guide orient="horz" pos="4088"/>
        <p:guide orient="horz" pos="595"/>
        <p:guide orient="horz" pos="368"/>
        <p:guide pos="3795"/>
        <p:guide orient="horz" pos="2750"/>
        <p:guide orient="horz" pos="1911"/>
        <p:guide pos="1255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3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8436F-662E-49B0-B351-065032D8947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64C77-F55C-44C7-9B7F-997EF2EBE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936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10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78A2-6001-6715-461E-E0E44D4F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4F384F-A919-5892-54AE-A78FB6C42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B3914E-42AD-D024-7E7B-BDC5D0C74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17165-E898-E080-D80E-02C9CF43C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47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F447-DA2A-4C35-61D2-5FADD434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FCF09A-C871-66D4-BADC-3CEC209E6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BF1C2B-88DF-1288-1D96-BF83353AE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989CB8-F9BC-48C5-1878-0D86A6443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116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07C4-877F-ABAC-1E43-36903DF3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2D1028-C143-67AC-10CC-EA9E2F833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9E925A-534A-3B13-357D-97FCD4AFC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607E12-949B-DC7D-F8EA-28D24A993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108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34A4-DFBB-5BB3-1D46-3C013280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901E33-57E2-00C3-3B39-FCE8F1163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89FDFF-58E3-9377-1BB7-534D8EE25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434CB-7E1E-D298-82CE-0678D1D38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190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180F2-2554-AE28-73D0-F90E8926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88BF87-5056-A0E9-435A-DD46A86C9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D2FC1A-9A69-4D45-B9F8-C710ED48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03CF9-BEB3-AB1F-FDD4-AA544C22C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964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0B59-E3C9-5CDC-2D1A-7FF18405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27A87A-D61B-055F-B0FE-C7BA8FA35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9E5488-649D-BB70-5950-DDCF321DC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30F705-25AD-56C6-360B-31480936E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918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A64C77-F55C-44C7-9B7F-997EF2EBEF9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814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597D7-0F2B-4748-90EB-A201EE04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A2D2D0-6A09-AE64-3F01-4D4D24A98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A78C47-F031-5BD0-6D11-A37C058DD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39795D-B2CE-625B-7C5B-881F8C287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A01C5C-451D-443E-AAD0-6A93EB63DDE1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256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64C77-F55C-44C7-9B7F-997EF2EBEF9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4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4713C-D813-A9DE-F472-922BE536A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EF7E62-4681-1D6E-13EC-8AFD54350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26DC21-CB83-F25D-10B8-A393CF6F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B0FF01-CDF7-0024-2E5F-4C235B01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50B66-C4B7-47D8-AC52-EBCB35A2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39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2CC27-2408-1216-CFCC-AAA5DA29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27FA1-6895-EF7C-D6AF-653AE3931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F09D5-4094-1936-2E1A-ACD8B516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0D19F1-4168-9A8F-DBF2-00C38BF91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0CDFC-C732-B758-D984-908BA27B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86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0AD30-F43D-56FA-96A2-E420D862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05AAA-6BD8-9A56-0F39-3C87A2F8C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5EA399-B9AD-B326-1E24-C01381BF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98AB63-7F27-DE4B-4D41-A16890DC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F59C0-6A4C-CA7A-4465-01E3FB5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02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B8849-B819-F2DF-12BE-0CC2E8C9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EF221-EBBC-393A-916B-5544D120D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31A16F-8695-EA4D-6F73-4867C99B8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2C5953-A706-8394-E1F0-797F4531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93B3B9-DC17-65CF-8B2B-6EC40BF6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88ED7D-60CF-A669-E8C6-6C15A8FA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07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769BD-ACC5-2236-BCDC-9D95650A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EE74D5-18A4-34A3-4159-0AD37AA0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FFCE1C-A7A9-A65F-CFA9-7AE9BF500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FCBAA1F-81A9-87EC-F91C-244605B2A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52A50C-C90F-E4C4-B491-29494998A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9E0B6F-7AC2-4149-B3DF-90694EFE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DDB469-49F5-0C09-8586-1010EE28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94E7BF-FD6C-C2FC-1F6D-F1C349D0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92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576DA-EE6F-0252-F81B-B83E0568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006A77-604E-5681-4AD9-6587FF2F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9DACC1-75FA-CB91-CE3B-6A4A0393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65317A-6FE4-8A71-A6F5-849CE12A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BA52EA-0E35-9EC0-3BE3-3F2F8EC8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C2F114-AC21-8BAE-06AE-D6030449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0FF633-5D42-D8AB-83E3-26B1D46C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74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1EB78-4E22-5BE5-AF9E-6A8A422EC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427582-D39E-FC59-C830-6DA2BB023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DE96A7-3969-724A-A9D9-4DBB49CE9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6DAAE3-576E-8413-314F-A0A95430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B53854-898B-A339-CA10-69C07CDD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D64B03-4B13-82AB-0BA5-74E0F5C6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20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B9953-389E-7572-DB57-5E6E8444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744A64-27B3-A466-493D-44C975221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633991-09DF-40EF-633F-922A2ED27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AF4D88-019F-0499-9CFB-A57293A2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5C90FC-4C59-5288-3584-2E809459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BF7F5A-4920-333F-5B95-BEB465AB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98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648C4-6844-0DD5-C792-1E2A31F0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8F2690-7F6D-78AA-E862-A70ECB220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3B0E2-AC31-EE15-6421-0AF8166F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FC4AA-2196-38ED-01BF-2B0B4359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790AD2-8139-C14B-7385-52D516EB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36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BE9AAB-E806-7B67-336E-85B5CE515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7064A7-4E27-3409-EC37-E0175B97D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AC1505-3BA1-509E-E8CF-C02DF10C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CD469-0451-AA3B-B79E-EBB4C4B8E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C05578-08AC-60AE-A499-0A004E97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35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id="{34AD0945-E446-7130-B3A4-0AF451CC7C18}"/>
              </a:ext>
            </a:extLst>
          </p:cNvPr>
          <p:cNvSpPr/>
          <p:nvPr userDrawn="1"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E72441E5-66E0-6AE0-16E7-1F06401A5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358713" y="6556474"/>
            <a:ext cx="8707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fld id="{9CDC9AD0-CB9B-482F-8454-4D3B85F9799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40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694BB1E-DD01-944E-3656-373D17737C11}"/>
              </a:ext>
            </a:extLst>
          </p:cNvPr>
          <p:cNvSpPr/>
          <p:nvPr userDrawn="1"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0C814E2-AD10-54F0-349E-AA22495289B2}"/>
              </a:ext>
            </a:extLst>
          </p:cNvPr>
          <p:cNvCxnSpPr>
            <a:cxnSpLocks/>
          </p:cNvCxnSpPr>
          <p:nvPr userDrawn="1"/>
        </p:nvCxnSpPr>
        <p:spPr>
          <a:xfrm>
            <a:off x="907256" y="735977"/>
            <a:ext cx="10960894" cy="0"/>
          </a:xfrm>
          <a:prstGeom prst="line">
            <a:avLst/>
          </a:prstGeom>
          <a:ln w="12700">
            <a:solidFill>
              <a:srgbClr val="EBE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8A22AC8-3303-CB3D-36AD-8CE0ABFB91C1}"/>
              </a:ext>
            </a:extLst>
          </p:cNvPr>
          <p:cNvSpPr/>
          <p:nvPr userDrawn="1"/>
        </p:nvSpPr>
        <p:spPr>
          <a:xfrm>
            <a:off x="352870" y="109538"/>
            <a:ext cx="736819" cy="632296"/>
          </a:xfrm>
          <a:prstGeom prst="parallelogram">
            <a:avLst>
              <a:gd name="adj" fmla="val 31362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AE8FD0DE-7FC2-0151-B266-A50B9265A32D}"/>
              </a:ext>
            </a:extLst>
          </p:cNvPr>
          <p:cNvSpPr/>
          <p:nvPr userDrawn="1"/>
        </p:nvSpPr>
        <p:spPr>
          <a:xfrm>
            <a:off x="833568" y="562316"/>
            <a:ext cx="230262" cy="179518"/>
          </a:xfrm>
          <a:prstGeom prst="parallelogram">
            <a:avLst>
              <a:gd name="adj" fmla="val 31362"/>
            </a:avLst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94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id="{34AD0945-E446-7130-B3A4-0AF451CC7C18}"/>
              </a:ext>
            </a:extLst>
          </p:cNvPr>
          <p:cNvSpPr/>
          <p:nvPr userDrawn="1"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E72441E5-66E0-6AE0-16E7-1F06401A5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358713" y="6556474"/>
            <a:ext cx="8707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40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694BB1E-DD01-944E-3656-373D17737C11}"/>
              </a:ext>
            </a:extLst>
          </p:cNvPr>
          <p:cNvSpPr/>
          <p:nvPr userDrawn="1"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0C814E2-AD10-54F0-349E-AA22495289B2}"/>
              </a:ext>
            </a:extLst>
          </p:cNvPr>
          <p:cNvCxnSpPr>
            <a:cxnSpLocks/>
          </p:cNvCxnSpPr>
          <p:nvPr userDrawn="1"/>
        </p:nvCxnSpPr>
        <p:spPr>
          <a:xfrm>
            <a:off x="907256" y="735977"/>
            <a:ext cx="10960894" cy="0"/>
          </a:xfrm>
          <a:prstGeom prst="line">
            <a:avLst/>
          </a:prstGeom>
          <a:ln w="12700">
            <a:solidFill>
              <a:srgbClr val="EBE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8A22AC8-3303-CB3D-36AD-8CE0ABFB91C1}"/>
              </a:ext>
            </a:extLst>
          </p:cNvPr>
          <p:cNvSpPr/>
          <p:nvPr userDrawn="1"/>
        </p:nvSpPr>
        <p:spPr>
          <a:xfrm>
            <a:off x="352870" y="109538"/>
            <a:ext cx="736819" cy="632296"/>
          </a:xfrm>
          <a:prstGeom prst="parallelogram">
            <a:avLst>
              <a:gd name="adj" fmla="val 31362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AE8FD0DE-7FC2-0151-B266-A50B9265A32D}"/>
              </a:ext>
            </a:extLst>
          </p:cNvPr>
          <p:cNvSpPr/>
          <p:nvPr userDrawn="1"/>
        </p:nvSpPr>
        <p:spPr>
          <a:xfrm>
            <a:off x="833568" y="562316"/>
            <a:ext cx="230262" cy="179518"/>
          </a:xfrm>
          <a:prstGeom prst="parallelogram">
            <a:avLst>
              <a:gd name="adj" fmla="val 31362"/>
            </a:avLst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阿里巴巴普惠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59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19F5B4-776B-E2A0-9611-A4220E1F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E1C0C5-251B-9BCE-886C-F53BC5463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E1108-3AC3-7D0E-686E-0008D099E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134E3-A84D-46D1-B1F3-FA7C4B654D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0550F-2FEF-4E9D-A677-6B492722A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5598D-0C41-69A1-BEFA-0E7CF9390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6927B9-D7E1-40EA-8DF1-93C7AFB09F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25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jp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.xml"/><Relationship Id="rId7" Type="http://schemas.openxmlformats.org/officeDocument/2006/relationships/image" Target="../media/image1.jp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背景图案&#10;&#10;描述已自动生成">
            <a:extLst>
              <a:ext uri="{FF2B5EF4-FFF2-40B4-BE49-F238E27FC236}">
                <a16:creationId xmlns:a16="http://schemas.microsoft.com/office/drawing/2014/main" id="{2EFD124E-0D4D-3508-DB6B-899F51AB13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609600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4DFE3FA4-D4A1-207D-AFC5-810E46B5805D}"/>
              </a:ext>
            </a:extLst>
          </p:cNvPr>
          <p:cNvSpPr/>
          <p:nvPr/>
        </p:nvSpPr>
        <p:spPr>
          <a:xfrm>
            <a:off x="0" y="4763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任意多边形: 形状 25">
            <a:extLst>
              <a:ext uri="{FF2B5EF4-FFF2-40B4-BE49-F238E27FC236}">
                <a16:creationId xmlns:a16="http://schemas.microsoft.com/office/drawing/2014/main" id="{319C7D95-B581-7A7B-7F91-E8EECDBAC725}"/>
              </a:ext>
            </a:extLst>
          </p:cNvPr>
          <p:cNvSpPr/>
          <p:nvPr/>
        </p:nvSpPr>
        <p:spPr>
          <a:xfrm>
            <a:off x="0" y="1382607"/>
            <a:ext cx="12192000" cy="1871152"/>
          </a:xfrm>
          <a:custGeom>
            <a:avLst/>
            <a:gdLst>
              <a:gd name="connsiteX0" fmla="*/ 0 w 12009212"/>
              <a:gd name="connsiteY0" fmla="*/ 0 h 2262459"/>
              <a:gd name="connsiteX1" fmla="*/ 2983585 w 12009212"/>
              <a:gd name="connsiteY1" fmla="*/ 0 h 2262459"/>
              <a:gd name="connsiteX2" fmla="*/ 3042361 w 12009212"/>
              <a:gd name="connsiteY2" fmla="*/ 136729 h 2262459"/>
              <a:gd name="connsiteX3" fmla="*/ 8966851 w 12009212"/>
              <a:gd name="connsiteY3" fmla="*/ 136729 h 2262459"/>
              <a:gd name="connsiteX4" fmla="*/ 9025627 w 12009212"/>
              <a:gd name="connsiteY4" fmla="*/ 0 h 2262459"/>
              <a:gd name="connsiteX5" fmla="*/ 12009212 w 12009212"/>
              <a:gd name="connsiteY5" fmla="*/ 0 h 2262459"/>
              <a:gd name="connsiteX6" fmla="*/ 11925747 w 12009212"/>
              <a:gd name="connsiteY6" fmla="*/ 194164 h 2262459"/>
              <a:gd name="connsiteX7" fmla="*/ 11910106 w 12009212"/>
              <a:gd name="connsiteY7" fmla="*/ 194164 h 2262459"/>
              <a:gd name="connsiteX8" fmla="*/ 11910106 w 12009212"/>
              <a:gd name="connsiteY8" fmla="*/ 2262459 h 2262459"/>
              <a:gd name="connsiteX9" fmla="*/ 99106 w 12009212"/>
              <a:gd name="connsiteY9" fmla="*/ 2262459 h 2262459"/>
              <a:gd name="connsiteX10" fmla="*/ 99106 w 12009212"/>
              <a:gd name="connsiteY10" fmla="*/ 194164 h 2262459"/>
              <a:gd name="connsiteX11" fmla="*/ 83465 w 12009212"/>
              <a:gd name="connsiteY11" fmla="*/ 194164 h 226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09212" h="2262459">
                <a:moveTo>
                  <a:pt x="0" y="0"/>
                </a:moveTo>
                <a:lnTo>
                  <a:pt x="2983585" y="0"/>
                </a:lnTo>
                <a:lnTo>
                  <a:pt x="3042361" y="136729"/>
                </a:lnTo>
                <a:lnTo>
                  <a:pt x="8966851" y="136729"/>
                </a:lnTo>
                <a:lnTo>
                  <a:pt x="9025627" y="0"/>
                </a:lnTo>
                <a:lnTo>
                  <a:pt x="12009212" y="0"/>
                </a:lnTo>
                <a:lnTo>
                  <a:pt x="11925747" y="194164"/>
                </a:lnTo>
                <a:lnTo>
                  <a:pt x="11910106" y="194164"/>
                </a:lnTo>
                <a:lnTo>
                  <a:pt x="11910106" y="2262459"/>
                </a:lnTo>
                <a:lnTo>
                  <a:pt x="99106" y="2262459"/>
                </a:lnTo>
                <a:lnTo>
                  <a:pt x="99106" y="194164"/>
                </a:lnTo>
                <a:lnTo>
                  <a:pt x="83465" y="194164"/>
                </a:lnTo>
                <a:close/>
              </a:path>
            </a:pathLst>
          </a:custGeom>
          <a:gradFill flip="none" rotWithShape="1">
            <a:gsLst>
              <a:gs pos="50000">
                <a:schemeClr val="bg1">
                  <a:alpha val="95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gradFill flip="none" rotWithShape="1">
              <a:gsLst>
                <a:gs pos="8000">
                  <a:srgbClr val="003399">
                    <a:alpha val="0"/>
                  </a:srgbClr>
                </a:gs>
                <a:gs pos="50000">
                  <a:srgbClr val="003399">
                    <a:alpha val="50000"/>
                  </a:srgbClr>
                </a:gs>
                <a:gs pos="92000">
                  <a:srgbClr val="003399">
                    <a:alpha val="0"/>
                  </a:srgbClr>
                </a:gs>
              </a:gsLst>
              <a:lin ang="0" scaled="1"/>
              <a:tileRect/>
            </a:gra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33EF565-55B9-AA12-404A-BF4BC5EC40AD}"/>
              </a:ext>
            </a:extLst>
          </p:cNvPr>
          <p:cNvGrpSpPr/>
          <p:nvPr/>
        </p:nvGrpSpPr>
        <p:grpSpPr>
          <a:xfrm>
            <a:off x="9105081" y="1437984"/>
            <a:ext cx="448367" cy="111507"/>
            <a:chOff x="9095556" y="1155574"/>
            <a:chExt cx="448367" cy="111507"/>
          </a:xfrm>
        </p:grpSpPr>
        <p:sp>
          <p:nvSpPr>
            <p:cNvPr id="33" name="PA-平行四边形 103">
              <a:extLst>
                <a:ext uri="{FF2B5EF4-FFF2-40B4-BE49-F238E27FC236}">
                  <a16:creationId xmlns:a16="http://schemas.microsoft.com/office/drawing/2014/main" id="{D51ADD70-B5EF-814C-F16E-B81489C7A57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H="1" flipV="1">
              <a:off x="9095556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34" name="PA-平行四边形 103">
              <a:extLst>
                <a:ext uri="{FF2B5EF4-FFF2-40B4-BE49-F238E27FC236}">
                  <a16:creationId xmlns:a16="http://schemas.microsoft.com/office/drawing/2014/main" id="{E4FFF8D9-7E67-5B7C-34F2-D20F219BC21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H="1" flipV="1">
              <a:off x="9203303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5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4800" kern="0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  <p:sp>
          <p:nvSpPr>
            <p:cNvPr id="35" name="PA-平行四边形 103">
              <a:extLst>
                <a:ext uri="{FF2B5EF4-FFF2-40B4-BE49-F238E27FC236}">
                  <a16:creationId xmlns:a16="http://schemas.microsoft.com/office/drawing/2014/main" id="{3DC792F0-A726-6A7C-FEB7-00C9C970AEC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H="1" flipV="1">
              <a:off x="9311050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22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4800" kern="0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  <p:sp>
          <p:nvSpPr>
            <p:cNvPr id="36" name="PA-平行四边形 103">
              <a:extLst>
                <a:ext uri="{FF2B5EF4-FFF2-40B4-BE49-F238E27FC236}">
                  <a16:creationId xmlns:a16="http://schemas.microsoft.com/office/drawing/2014/main" id="{BEE727B6-F6CD-8A7D-47E4-3BD12240663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flipH="1" flipV="1">
              <a:off x="9418797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37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8A3E1C5-F99C-4281-47E2-4E8C4381429C}"/>
              </a:ext>
            </a:extLst>
          </p:cNvPr>
          <p:cNvGrpSpPr/>
          <p:nvPr/>
        </p:nvGrpSpPr>
        <p:grpSpPr>
          <a:xfrm>
            <a:off x="7610488" y="3207894"/>
            <a:ext cx="3601087" cy="236081"/>
            <a:chOff x="7736114" y="3254973"/>
            <a:chExt cx="3601087" cy="236081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DDEF6D8-EFE4-F213-7D33-4FD3B5DCD0B8}"/>
                </a:ext>
              </a:extLst>
            </p:cNvPr>
            <p:cNvSpPr/>
            <p:nvPr/>
          </p:nvSpPr>
          <p:spPr>
            <a:xfrm>
              <a:off x="7736114" y="3254973"/>
              <a:ext cx="3549650" cy="184150"/>
            </a:xfrm>
            <a:custGeom>
              <a:avLst/>
              <a:gdLst>
                <a:gd name="connsiteX0" fmla="*/ 0 w 3549650"/>
                <a:gd name="connsiteY0" fmla="*/ 0 h 184150"/>
                <a:gd name="connsiteX1" fmla="*/ 3365500 w 3549650"/>
                <a:gd name="connsiteY1" fmla="*/ 0 h 184150"/>
                <a:gd name="connsiteX2" fmla="*/ 3549650 w 3549650"/>
                <a:gd name="connsiteY2" fmla="*/ 1841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49650" h="184150">
                  <a:moveTo>
                    <a:pt x="0" y="0"/>
                  </a:moveTo>
                  <a:lnTo>
                    <a:pt x="3365500" y="0"/>
                  </a:lnTo>
                  <a:lnTo>
                    <a:pt x="3549650" y="18415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6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6B3D246-5E0B-2CCC-DEEC-6C3C01ABBA29}"/>
                </a:ext>
              </a:extLst>
            </p:cNvPr>
            <p:cNvSpPr/>
            <p:nvPr/>
          </p:nvSpPr>
          <p:spPr>
            <a:xfrm>
              <a:off x="11272431" y="3426284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BBBF134-C1AB-463F-98B4-CBC6E838D719}"/>
              </a:ext>
            </a:extLst>
          </p:cNvPr>
          <p:cNvGrpSpPr/>
          <p:nvPr/>
        </p:nvGrpSpPr>
        <p:grpSpPr>
          <a:xfrm>
            <a:off x="980426" y="3137243"/>
            <a:ext cx="2912079" cy="213361"/>
            <a:chOff x="3707890" y="5082225"/>
            <a:chExt cx="2912079" cy="213361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44E11BBE-8D3E-F1D5-770C-1451FEAC3C2B}"/>
                </a:ext>
              </a:extLst>
            </p:cNvPr>
            <p:cNvSpPr/>
            <p:nvPr/>
          </p:nvSpPr>
          <p:spPr>
            <a:xfrm>
              <a:off x="3756785" y="5136836"/>
              <a:ext cx="2794000" cy="158750"/>
            </a:xfrm>
            <a:custGeom>
              <a:avLst/>
              <a:gdLst>
                <a:gd name="connsiteX0" fmla="*/ 4743450 w 4743450"/>
                <a:gd name="connsiteY0" fmla="*/ 158750 h 158750"/>
                <a:gd name="connsiteX1" fmla="*/ 158750 w 4743450"/>
                <a:gd name="connsiteY1" fmla="*/ 158750 h 158750"/>
                <a:gd name="connsiteX2" fmla="*/ 0 w 4743450"/>
                <a:gd name="connsiteY2" fmla="*/ 0 h 158750"/>
                <a:gd name="connsiteX0" fmla="*/ 4743450 w 4743450"/>
                <a:gd name="connsiteY0" fmla="*/ 158750 h 158750"/>
                <a:gd name="connsiteX1" fmla="*/ 2794000 w 4743450"/>
                <a:gd name="connsiteY1" fmla="*/ 158670 h 158750"/>
                <a:gd name="connsiteX2" fmla="*/ 158750 w 4743450"/>
                <a:gd name="connsiteY2" fmla="*/ 158750 h 158750"/>
                <a:gd name="connsiteX3" fmla="*/ 0 w 4743450"/>
                <a:gd name="connsiteY3" fmla="*/ 0 h 158750"/>
                <a:gd name="connsiteX0" fmla="*/ 2794000 w 2794000"/>
                <a:gd name="connsiteY0" fmla="*/ 158670 h 158750"/>
                <a:gd name="connsiteX1" fmla="*/ 158750 w 2794000"/>
                <a:gd name="connsiteY1" fmla="*/ 158750 h 158750"/>
                <a:gd name="connsiteX2" fmla="*/ 0 w 2794000"/>
                <a:gd name="connsiteY2" fmla="*/ 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0" h="158750">
                  <a:moveTo>
                    <a:pt x="2794000" y="158670"/>
                  </a:moveTo>
                  <a:lnTo>
                    <a:pt x="158750" y="158750"/>
                  </a:lnTo>
                  <a:lnTo>
                    <a:pt x="0" y="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5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2338A340-7445-F889-5C16-49B4C5EA77EC}"/>
                </a:ext>
              </a:extLst>
            </p:cNvPr>
            <p:cNvSpPr/>
            <p:nvPr/>
          </p:nvSpPr>
          <p:spPr>
            <a:xfrm>
              <a:off x="4029169" y="5206686"/>
              <a:ext cx="2590800" cy="0"/>
            </a:xfrm>
            <a:custGeom>
              <a:avLst/>
              <a:gdLst>
                <a:gd name="connsiteX0" fmla="*/ 0 w 2590800"/>
                <a:gd name="connsiteY0" fmla="*/ 0 h 0"/>
                <a:gd name="connsiteX1" fmla="*/ 2590800 w 25908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90800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F66BA8D0-3385-2AA7-AF3F-97ECA0DE0BC9}"/>
                </a:ext>
              </a:extLst>
            </p:cNvPr>
            <p:cNvSpPr/>
            <p:nvPr/>
          </p:nvSpPr>
          <p:spPr>
            <a:xfrm>
              <a:off x="3707890" y="5082225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05221F6E-9B15-30F6-0703-385A23C92E81}"/>
              </a:ext>
            </a:extLst>
          </p:cNvPr>
          <p:cNvGrpSpPr/>
          <p:nvPr/>
        </p:nvGrpSpPr>
        <p:grpSpPr>
          <a:xfrm>
            <a:off x="0" y="5341921"/>
            <a:ext cx="12191980" cy="1516079"/>
            <a:chOff x="0" y="7281859"/>
            <a:chExt cx="12191980" cy="1203418"/>
          </a:xfrm>
        </p:grpSpPr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DDFB7D1A-E739-D14F-781C-4F1C8710B4E5}"/>
                </a:ext>
              </a:extLst>
            </p:cNvPr>
            <p:cNvSpPr/>
            <p:nvPr/>
          </p:nvSpPr>
          <p:spPr>
            <a:xfrm>
              <a:off x="0" y="7281859"/>
              <a:ext cx="12191980" cy="1203418"/>
            </a:xfrm>
            <a:custGeom>
              <a:avLst/>
              <a:gdLst>
                <a:gd name="connsiteX0" fmla="*/ 0 w 12191980"/>
                <a:gd name="connsiteY0" fmla="*/ 0 h 1027164"/>
                <a:gd name="connsiteX1" fmla="*/ 6972 w 12191980"/>
                <a:gd name="connsiteY1" fmla="*/ 3268 h 1027164"/>
                <a:gd name="connsiteX2" fmla="*/ 6095990 w 12191980"/>
                <a:gd name="connsiteY2" fmla="*/ 1009763 h 1027164"/>
                <a:gd name="connsiteX3" fmla="*/ 12185008 w 12191980"/>
                <a:gd name="connsiteY3" fmla="*/ 3268 h 1027164"/>
                <a:gd name="connsiteX4" fmla="*/ 12191980 w 12191980"/>
                <a:gd name="connsiteY4" fmla="*/ 0 h 1027164"/>
                <a:gd name="connsiteX5" fmla="*/ 12191980 w 12191980"/>
                <a:gd name="connsiteY5" fmla="*/ 1027164 h 1027164"/>
                <a:gd name="connsiteX6" fmla="*/ 0 w 12191980"/>
                <a:gd name="connsiteY6" fmla="*/ 1027164 h 102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80" h="1027164">
                  <a:moveTo>
                    <a:pt x="0" y="0"/>
                  </a:moveTo>
                  <a:lnTo>
                    <a:pt x="6972" y="3268"/>
                  </a:lnTo>
                  <a:cubicBezTo>
                    <a:pt x="1454283" y="617959"/>
                    <a:pt x="3644595" y="1009763"/>
                    <a:pt x="6095990" y="1009763"/>
                  </a:cubicBezTo>
                  <a:cubicBezTo>
                    <a:pt x="8547385" y="1009763"/>
                    <a:pt x="10737697" y="617959"/>
                    <a:pt x="12185008" y="3268"/>
                  </a:cubicBezTo>
                  <a:lnTo>
                    <a:pt x="12191980" y="0"/>
                  </a:lnTo>
                  <a:lnTo>
                    <a:pt x="12191980" y="1027164"/>
                  </a:lnTo>
                  <a:lnTo>
                    <a:pt x="0" y="1027164"/>
                  </a:lnTo>
                  <a:close/>
                </a:path>
              </a:pathLst>
            </a:custGeom>
            <a:solidFill>
              <a:srgbClr val="4EADDD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457200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0683BDF2-665C-9D77-4F5A-AE27F47B0752}"/>
                </a:ext>
              </a:extLst>
            </p:cNvPr>
            <p:cNvSpPr/>
            <p:nvPr/>
          </p:nvSpPr>
          <p:spPr>
            <a:xfrm>
              <a:off x="0" y="7458113"/>
              <a:ext cx="12191980" cy="1027164"/>
            </a:xfrm>
            <a:custGeom>
              <a:avLst/>
              <a:gdLst>
                <a:gd name="connsiteX0" fmla="*/ 0 w 12191980"/>
                <a:gd name="connsiteY0" fmla="*/ 0 h 1027164"/>
                <a:gd name="connsiteX1" fmla="*/ 6972 w 12191980"/>
                <a:gd name="connsiteY1" fmla="*/ 3268 h 1027164"/>
                <a:gd name="connsiteX2" fmla="*/ 6095990 w 12191980"/>
                <a:gd name="connsiteY2" fmla="*/ 1009763 h 1027164"/>
                <a:gd name="connsiteX3" fmla="*/ 12185008 w 12191980"/>
                <a:gd name="connsiteY3" fmla="*/ 3268 h 1027164"/>
                <a:gd name="connsiteX4" fmla="*/ 12191980 w 12191980"/>
                <a:gd name="connsiteY4" fmla="*/ 0 h 1027164"/>
                <a:gd name="connsiteX5" fmla="*/ 12191980 w 12191980"/>
                <a:gd name="connsiteY5" fmla="*/ 1027164 h 1027164"/>
                <a:gd name="connsiteX6" fmla="*/ 0 w 12191980"/>
                <a:gd name="connsiteY6" fmla="*/ 1027164 h 102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80" h="1027164">
                  <a:moveTo>
                    <a:pt x="0" y="0"/>
                  </a:moveTo>
                  <a:lnTo>
                    <a:pt x="6972" y="3268"/>
                  </a:lnTo>
                  <a:cubicBezTo>
                    <a:pt x="1454283" y="617959"/>
                    <a:pt x="3644595" y="1009763"/>
                    <a:pt x="6095990" y="1009763"/>
                  </a:cubicBezTo>
                  <a:cubicBezTo>
                    <a:pt x="8547385" y="1009763"/>
                    <a:pt x="10737697" y="617959"/>
                    <a:pt x="12185008" y="3268"/>
                  </a:cubicBezTo>
                  <a:lnTo>
                    <a:pt x="12191980" y="0"/>
                  </a:lnTo>
                  <a:lnTo>
                    <a:pt x="12191980" y="1027164"/>
                  </a:lnTo>
                  <a:lnTo>
                    <a:pt x="0" y="1027164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ACBB09-2C02-C60E-7E6F-BAD7AADA6816}"/>
              </a:ext>
            </a:extLst>
          </p:cNvPr>
          <p:cNvSpPr txBox="1"/>
          <p:nvPr/>
        </p:nvSpPr>
        <p:spPr>
          <a:xfrm>
            <a:off x="921120" y="2091960"/>
            <a:ext cx="10349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水凝胶粘接失效的速率效应研究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4A7DDE7-06A6-77F7-F23A-A332C2EBD2BA}"/>
              </a:ext>
            </a:extLst>
          </p:cNvPr>
          <p:cNvSpPr txBox="1">
            <a:spLocks/>
          </p:cNvSpPr>
          <p:nvPr/>
        </p:nvSpPr>
        <p:spPr bwMode="auto">
          <a:xfrm>
            <a:off x="2391393" y="865988"/>
            <a:ext cx="7409214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博士学位论文答辩</a:t>
            </a:r>
          </a:p>
          <a:p>
            <a:pPr algn="ctr" eaLnBrk="1" hangingPunct="1">
              <a:lnSpc>
                <a:spcPct val="150000"/>
              </a:lnSpc>
            </a:pPr>
            <a:endParaRPr lang="zh-CN" altLang="en-US" sz="24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9B3341-0D91-6112-2794-E1B583C1C985}"/>
              </a:ext>
            </a:extLst>
          </p:cNvPr>
          <p:cNvSpPr txBox="1"/>
          <p:nvPr/>
        </p:nvSpPr>
        <p:spPr>
          <a:xfrm>
            <a:off x="2324898" y="4965978"/>
            <a:ext cx="7542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浙江大学 航空航天学院 应用力学研究所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0307F5-7B91-B1F4-22E3-389F0DBD27EF}"/>
              </a:ext>
            </a:extLst>
          </p:cNvPr>
          <p:cNvGrpSpPr/>
          <p:nvPr/>
        </p:nvGrpSpPr>
        <p:grpSpPr>
          <a:xfrm>
            <a:off x="4402772" y="3549573"/>
            <a:ext cx="3386434" cy="561322"/>
            <a:chOff x="4730750" y="3711267"/>
            <a:chExt cx="2730500" cy="56132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B2E6D29-19F4-F681-FCBA-7778D5AE2556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A28ACAE-5901-EB3C-998F-4B0F6C5300B4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E654673-2090-12F4-2190-607BDD8D0856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答辩人：尹道晨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99B3341-0D91-6112-2794-E1B583C1C985}"/>
              </a:ext>
            </a:extLst>
          </p:cNvPr>
          <p:cNvSpPr txBox="1"/>
          <p:nvPr/>
        </p:nvSpPr>
        <p:spPr>
          <a:xfrm>
            <a:off x="4402771" y="5628649"/>
            <a:ext cx="3386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pic>
        <p:nvPicPr>
          <p:cNvPr id="4" name="Picture 4" descr="浙江大学- 维基百科，自由的百科全书">
            <a:extLst>
              <a:ext uri="{FF2B5EF4-FFF2-40B4-BE49-F238E27FC236}">
                <a16:creationId xmlns:a16="http://schemas.microsoft.com/office/drawing/2014/main" id="{1B447617-526E-4186-E569-2F717C215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6" y="108431"/>
            <a:ext cx="1344705" cy="1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27DC573-2B1B-C6C4-D762-780780901454}"/>
              </a:ext>
            </a:extLst>
          </p:cNvPr>
          <p:cNvGrpSpPr/>
          <p:nvPr/>
        </p:nvGrpSpPr>
        <p:grpSpPr>
          <a:xfrm>
            <a:off x="4402771" y="4212752"/>
            <a:ext cx="3386434" cy="561322"/>
            <a:chOff x="4730750" y="3711267"/>
            <a:chExt cx="2730500" cy="561322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2B20715-A7C3-BF01-43AD-584567919B26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DC31666-41E4-EB02-0935-B79F9F1B8BF2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5E0A828-269C-2CC6-AC60-50B99488D56F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指导老师：贾铮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3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6E40-D11C-5344-3549-686E9CAA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615A4C4-21E6-6744-FBB8-BFF6A1243E97}"/>
              </a:ext>
            </a:extLst>
          </p:cNvPr>
          <p:cNvGrpSpPr/>
          <p:nvPr/>
        </p:nvGrpSpPr>
        <p:grpSpPr>
          <a:xfrm flipH="1">
            <a:off x="0" y="0"/>
            <a:ext cx="12191994" cy="6749144"/>
            <a:chOff x="0" y="-1"/>
            <a:chExt cx="10512854" cy="1008062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9469850-7930-168F-E088-466F8C758A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116"/>
            <a:stretch/>
          </p:blipFill>
          <p:spPr>
            <a:xfrm>
              <a:off x="0" y="-1"/>
              <a:ext cx="10011404" cy="10080316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08222CF-6504-21CB-1BEC-CF2CB0C16F9E}"/>
                </a:ext>
              </a:extLst>
            </p:cNvPr>
            <p:cNvSpPr/>
            <p:nvPr/>
          </p:nvSpPr>
          <p:spPr>
            <a:xfrm rot="5400000">
              <a:off x="216115" y="-216114"/>
              <a:ext cx="10080626" cy="10512853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AD3D7F03-3C6A-60F3-D637-7E764305DB8E}"/>
              </a:ext>
            </a:extLst>
          </p:cNvPr>
          <p:cNvSpPr/>
          <p:nvPr/>
        </p:nvSpPr>
        <p:spPr>
          <a:xfrm>
            <a:off x="-1" y="-396939"/>
            <a:ext cx="12191995" cy="2743200"/>
          </a:xfrm>
          <a:prstGeom prst="round2DiagRect">
            <a:avLst>
              <a:gd name="adj1" fmla="val 24331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CC2307DF-5616-10CC-474E-D982682132B8}"/>
              </a:ext>
            </a:extLst>
          </p:cNvPr>
          <p:cNvSpPr/>
          <p:nvPr/>
        </p:nvSpPr>
        <p:spPr>
          <a:xfrm>
            <a:off x="-1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矩形: 对角圆角 18">
            <a:extLst>
              <a:ext uri="{FF2B5EF4-FFF2-40B4-BE49-F238E27FC236}">
                <a16:creationId xmlns:a16="http://schemas.microsoft.com/office/drawing/2014/main" id="{EB172174-3F4D-8670-49AD-FDB806CE5160}"/>
              </a:ext>
            </a:extLst>
          </p:cNvPr>
          <p:cNvSpPr/>
          <p:nvPr/>
        </p:nvSpPr>
        <p:spPr>
          <a:xfrm>
            <a:off x="0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gradFill>
            <a:gsLst>
              <a:gs pos="0">
                <a:srgbClr val="003399">
                  <a:alpha val="80000"/>
                </a:srgbClr>
              </a:gs>
              <a:gs pos="100000">
                <a:srgbClr val="00339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1B22882A-9576-B8C5-087A-6986547CC20B}"/>
              </a:ext>
            </a:extLst>
          </p:cNvPr>
          <p:cNvSpPr/>
          <p:nvPr/>
        </p:nvSpPr>
        <p:spPr>
          <a:xfrm>
            <a:off x="595503" y="272609"/>
            <a:ext cx="11009138" cy="5710524"/>
          </a:xfrm>
          <a:prstGeom prst="round2SameRect">
            <a:avLst>
              <a:gd name="adj1" fmla="val 3349"/>
              <a:gd name="adj2" fmla="val 0"/>
            </a:avLst>
          </a:prstGeom>
          <a:solidFill>
            <a:sysClr val="window" lastClr="FFFFFF"/>
          </a:solidFill>
          <a:ln w="9525" cap="flat" cmpd="sng" algn="ctr">
            <a:noFill/>
            <a:prstDash val="solid"/>
            <a:miter lim="800000"/>
          </a:ln>
          <a:effectLst>
            <a:outerShdw blurRad="444500" dist="215900" dir="8100000" algn="tr" rotWithShape="0">
              <a:schemeClr val="tx1">
                <a:alpha val="1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kern="0" dirty="0">
              <a:solidFill>
                <a:prstClr val="white"/>
              </a:solidFill>
              <a:latin typeface="Roboto Bold"/>
              <a:ea typeface="思源黑体 CN Bold"/>
            </a:endParaRPr>
          </a:p>
        </p:txBody>
      </p:sp>
      <p:pic>
        <p:nvPicPr>
          <p:cNvPr id="23" name="图片 22" descr="图标&#10;&#10;描述已自动生成">
            <a:extLst>
              <a:ext uri="{FF2B5EF4-FFF2-40B4-BE49-F238E27FC236}">
                <a16:creationId xmlns:a16="http://schemas.microsoft.com/office/drawing/2014/main" id="{2AE69814-ADB5-C0BF-E9B4-DF6AB2A2B3A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35" b="5905"/>
          <a:stretch/>
        </p:blipFill>
        <p:spPr>
          <a:xfrm rot="16200000" flipH="1" flipV="1">
            <a:off x="597811" y="4683950"/>
            <a:ext cx="1227829" cy="1260366"/>
          </a:xfrm>
          <a:prstGeom prst="rect">
            <a:avLst/>
          </a:prstGeom>
        </p:spPr>
      </p:pic>
      <p:sp>
        <p:nvSpPr>
          <p:cNvPr id="86" name="平行四边形 85">
            <a:extLst>
              <a:ext uri="{FF2B5EF4-FFF2-40B4-BE49-F238E27FC236}">
                <a16:creationId xmlns:a16="http://schemas.microsoft.com/office/drawing/2014/main" id="{336619D0-AC68-6471-9E57-C91A567F3AC7}"/>
              </a:ext>
            </a:extLst>
          </p:cNvPr>
          <p:cNvSpPr/>
          <p:nvPr/>
        </p:nvSpPr>
        <p:spPr>
          <a:xfrm>
            <a:off x="709773" y="1454079"/>
            <a:ext cx="917197" cy="178436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7" name="平行四边形 86">
            <a:extLst>
              <a:ext uri="{FF2B5EF4-FFF2-40B4-BE49-F238E27FC236}">
                <a16:creationId xmlns:a16="http://schemas.microsoft.com/office/drawing/2014/main" id="{BB257CA4-089B-DA59-654E-AD8ABA8A925B}"/>
              </a:ext>
            </a:extLst>
          </p:cNvPr>
          <p:cNvSpPr/>
          <p:nvPr/>
        </p:nvSpPr>
        <p:spPr>
          <a:xfrm>
            <a:off x="538890" y="1901429"/>
            <a:ext cx="584776" cy="113765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19AEFC19-A83E-1E31-4913-8AAB02B9C43D}"/>
              </a:ext>
            </a:extLst>
          </p:cNvPr>
          <p:cNvCxnSpPr>
            <a:cxnSpLocks/>
          </p:cNvCxnSpPr>
          <p:nvPr/>
        </p:nvCxnSpPr>
        <p:spPr>
          <a:xfrm>
            <a:off x="2172590" y="2028132"/>
            <a:ext cx="0" cy="2629348"/>
          </a:xfrm>
          <a:prstGeom prst="line">
            <a:avLst/>
          </a:prstGeom>
          <a:ln>
            <a:gradFill>
              <a:gsLst>
                <a:gs pos="0">
                  <a:srgbClr val="076EBD">
                    <a:alpha val="0"/>
                  </a:srgbClr>
                </a:gs>
                <a:gs pos="50000">
                  <a:srgbClr val="076EBD">
                    <a:alpha val="25000"/>
                  </a:srgbClr>
                </a:gs>
                <a:gs pos="100000">
                  <a:srgbClr val="076EBD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FC064F2-3F68-0B64-7B9D-17ACDC653F56}"/>
              </a:ext>
            </a:extLst>
          </p:cNvPr>
          <p:cNvGrpSpPr/>
          <p:nvPr/>
        </p:nvGrpSpPr>
        <p:grpSpPr>
          <a:xfrm>
            <a:off x="2352392" y="419751"/>
            <a:ext cx="9685946" cy="598541"/>
            <a:chOff x="2404454" y="812409"/>
            <a:chExt cx="9685946" cy="598541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860B55F-EBE9-BCE9-1785-713A2BC22170}"/>
                </a:ext>
              </a:extLst>
            </p:cNvPr>
            <p:cNvSpPr/>
            <p:nvPr/>
          </p:nvSpPr>
          <p:spPr>
            <a:xfrm>
              <a:off x="2816432" y="812409"/>
              <a:ext cx="9273968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003399">
                      <a:alpha val="52000"/>
                    </a:srgbClr>
                  </a:gs>
                  <a:gs pos="89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C1274071-FD96-7E1E-2179-3721E1F66A8F}"/>
                </a:ext>
              </a:extLst>
            </p:cNvPr>
            <p:cNvSpPr/>
            <p:nvPr/>
          </p:nvSpPr>
          <p:spPr>
            <a:xfrm>
              <a:off x="2404454" y="820860"/>
              <a:ext cx="590090" cy="590090"/>
            </a:xfrm>
            <a:prstGeom prst="ellipse">
              <a:avLst/>
            </a:prstGeom>
            <a:solidFill>
              <a:srgbClr val="003399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" name="文本框 49">
              <a:extLst>
                <a:ext uri="{FF2B5EF4-FFF2-40B4-BE49-F238E27FC236}">
                  <a16:creationId xmlns:a16="http://schemas.microsoft.com/office/drawing/2014/main" id="{82F19003-7A38-5FC1-1B80-4B5F521170E5}"/>
                </a:ext>
              </a:extLst>
            </p:cNvPr>
            <p:cNvSpPr txBox="1"/>
            <p:nvPr/>
          </p:nvSpPr>
          <p:spPr>
            <a:xfrm>
              <a:off x="2990271" y="845844"/>
              <a:ext cx="86341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00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</a:p>
          </p:txBody>
        </p:sp>
        <p:sp>
          <p:nvSpPr>
            <p:cNvPr id="5" name="文本框 48">
              <a:extLst>
                <a:ext uri="{FF2B5EF4-FFF2-40B4-BE49-F238E27FC236}">
                  <a16:creationId xmlns:a16="http://schemas.microsoft.com/office/drawing/2014/main" id="{DB56C9EF-DAC7-4731-614C-184A602858D8}"/>
                </a:ext>
              </a:extLst>
            </p:cNvPr>
            <p:cNvSpPr txBox="1"/>
            <p:nvPr/>
          </p:nvSpPr>
          <p:spPr>
            <a:xfrm>
              <a:off x="2455255" y="915850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44D50CF-740A-8561-0B36-8D88A9F6899C}"/>
              </a:ext>
            </a:extLst>
          </p:cNvPr>
          <p:cNvCxnSpPr>
            <a:cxnSpLocks/>
          </p:cNvCxnSpPr>
          <p:nvPr/>
        </p:nvCxnSpPr>
        <p:spPr>
          <a:xfrm>
            <a:off x="595503" y="5983133"/>
            <a:ext cx="10995180" cy="0"/>
          </a:xfrm>
          <a:prstGeom prst="line">
            <a:avLst/>
          </a:prstGeom>
          <a:ln w="34925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A3865D4-3AA9-F85E-52DA-2B93C5F6C6B3}"/>
              </a:ext>
            </a:extLst>
          </p:cNvPr>
          <p:cNvGrpSpPr/>
          <p:nvPr/>
        </p:nvGrpSpPr>
        <p:grpSpPr>
          <a:xfrm>
            <a:off x="2352392" y="1375568"/>
            <a:ext cx="8982600" cy="590090"/>
            <a:chOff x="5132117" y="2282846"/>
            <a:chExt cx="8982600" cy="59009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F4F5237E-D359-D649-E770-9772A079D8CC}"/>
                </a:ext>
              </a:extLst>
            </p:cNvPr>
            <p:cNvSpPr/>
            <p:nvPr/>
          </p:nvSpPr>
          <p:spPr>
            <a:xfrm>
              <a:off x="5518606" y="2282846"/>
              <a:ext cx="8596111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E7BFCB1-46CE-4CDA-2E09-563DA13B674E}"/>
                </a:ext>
              </a:extLst>
            </p:cNvPr>
            <p:cNvSpPr/>
            <p:nvPr/>
          </p:nvSpPr>
          <p:spPr>
            <a:xfrm>
              <a:off x="5132117" y="2282846"/>
              <a:ext cx="590090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文本框 49">
              <a:extLst>
                <a:ext uri="{FF2B5EF4-FFF2-40B4-BE49-F238E27FC236}">
                  <a16:creationId xmlns:a16="http://schemas.microsoft.com/office/drawing/2014/main" id="{2B639C2F-AD65-737E-906C-48A07DB995F9}"/>
                </a:ext>
              </a:extLst>
            </p:cNvPr>
            <p:cNvSpPr txBox="1"/>
            <p:nvPr/>
          </p:nvSpPr>
          <p:spPr>
            <a:xfrm>
              <a:off x="5717934" y="2322863"/>
              <a:ext cx="83760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非共价粘接水凝胶搭接剪切失效的速率相关行为</a:t>
              </a:r>
            </a:p>
          </p:txBody>
        </p:sp>
        <p:sp>
          <p:nvSpPr>
            <p:cNvPr id="53" name="文本框 48">
              <a:extLst>
                <a:ext uri="{FF2B5EF4-FFF2-40B4-BE49-F238E27FC236}">
                  <a16:creationId xmlns:a16="http://schemas.microsoft.com/office/drawing/2014/main" id="{8DFB1A6D-9D76-7E76-EDE0-32C9BF2DF3C2}"/>
                </a:ext>
              </a:extLst>
            </p:cNvPr>
            <p:cNvSpPr txBox="1"/>
            <p:nvPr/>
          </p:nvSpPr>
          <p:spPr>
            <a:xfrm>
              <a:off x="5182918" y="2377836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6B947C1-B700-446C-87EC-E4C6E8EC976D}"/>
              </a:ext>
            </a:extLst>
          </p:cNvPr>
          <p:cNvGrpSpPr/>
          <p:nvPr/>
        </p:nvGrpSpPr>
        <p:grpSpPr>
          <a:xfrm>
            <a:off x="2352392" y="2339906"/>
            <a:ext cx="9546163" cy="590090"/>
            <a:chOff x="-1171420" y="1903627"/>
            <a:chExt cx="9546163" cy="59009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6CB7A240-5CB3-FC49-B52A-2AD6B29FD668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6A1811EB-BED5-E2D2-8891-13CDB22BE7D0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文本框 49">
              <a:extLst>
                <a:ext uri="{FF2B5EF4-FFF2-40B4-BE49-F238E27FC236}">
                  <a16:creationId xmlns:a16="http://schemas.microsoft.com/office/drawing/2014/main" id="{61455C42-A3EF-6405-5C3C-E6538AF29D3F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水凝胶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</a:t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刚性基底非共价粘接剪切脱粘的速率相关行为</a:t>
              </a:r>
            </a:p>
          </p:txBody>
        </p:sp>
        <p:sp>
          <p:nvSpPr>
            <p:cNvPr id="58" name="文本框 48">
              <a:extLst>
                <a:ext uri="{FF2B5EF4-FFF2-40B4-BE49-F238E27FC236}">
                  <a16:creationId xmlns:a16="http://schemas.microsoft.com/office/drawing/2014/main" id="{99B8D0E4-50FE-6C47-D5F0-4661796A5723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0F324F3-0E0F-99B5-B839-75E5E2390D73}"/>
              </a:ext>
            </a:extLst>
          </p:cNvPr>
          <p:cNvGrpSpPr/>
          <p:nvPr/>
        </p:nvGrpSpPr>
        <p:grpSpPr>
          <a:xfrm>
            <a:off x="2353128" y="3301831"/>
            <a:ext cx="9546163" cy="590090"/>
            <a:chOff x="-1171420" y="1903627"/>
            <a:chExt cx="9546163" cy="590090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2F30F4F8-144D-6E96-BFB7-4AC3B68E2688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FEBE04B6-7E94-867C-2BB7-5B0CD44E64EF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文本框 49">
              <a:extLst>
                <a:ext uri="{FF2B5EF4-FFF2-40B4-BE49-F238E27FC236}">
                  <a16:creationId xmlns:a16="http://schemas.microsoft.com/office/drawing/2014/main" id="{9BA7061E-9357-CEA5-DB8A-15A1366852BF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非共价粘接水凝胶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180°</a:t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剥离失效的速率相关行为</a:t>
              </a:r>
            </a:p>
          </p:txBody>
        </p:sp>
        <p:sp>
          <p:nvSpPr>
            <p:cNvPr id="64" name="文本框 48">
              <a:extLst>
                <a:ext uri="{FF2B5EF4-FFF2-40B4-BE49-F238E27FC236}">
                  <a16:creationId xmlns:a16="http://schemas.microsoft.com/office/drawing/2014/main" id="{08EB6342-C9D2-FF79-4382-9BDC91879B9B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7703178-FC2B-7767-068F-C63CAF6FE831}"/>
              </a:ext>
            </a:extLst>
          </p:cNvPr>
          <p:cNvGrpSpPr/>
          <p:nvPr/>
        </p:nvGrpSpPr>
        <p:grpSpPr>
          <a:xfrm>
            <a:off x="2367329" y="4262007"/>
            <a:ext cx="9546163" cy="590090"/>
            <a:chOff x="-1171420" y="1903627"/>
            <a:chExt cx="9546163" cy="590090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62A5BDCB-53F0-9F55-93B2-0F7DFE026A8B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370532A1-0EF3-79C2-3898-1C2716377D1B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文本框 49">
              <a:extLst>
                <a:ext uri="{FF2B5EF4-FFF2-40B4-BE49-F238E27FC236}">
                  <a16:creationId xmlns:a16="http://schemas.microsoft.com/office/drawing/2014/main" id="{A4A8B12D-C385-4DBF-CE7F-C176AC0DADE1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水凝胶柔软可拉伸粘接方法及其失效的速率无关行为</a:t>
              </a:r>
            </a:p>
          </p:txBody>
        </p:sp>
        <p:sp>
          <p:nvSpPr>
            <p:cNvPr id="69" name="文本框 48">
              <a:extLst>
                <a:ext uri="{FF2B5EF4-FFF2-40B4-BE49-F238E27FC236}">
                  <a16:creationId xmlns:a16="http://schemas.microsoft.com/office/drawing/2014/main" id="{2EB8615D-1C74-D10F-62D4-12DAB3B33040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A7260BF-3441-DA2B-EBB1-216BEA9518BE}"/>
              </a:ext>
            </a:extLst>
          </p:cNvPr>
          <p:cNvGrpSpPr/>
          <p:nvPr/>
        </p:nvGrpSpPr>
        <p:grpSpPr>
          <a:xfrm>
            <a:off x="2367329" y="5206225"/>
            <a:ext cx="9546163" cy="590090"/>
            <a:chOff x="-1171420" y="1903627"/>
            <a:chExt cx="9546163" cy="590090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616CAF16-2E5B-0136-1864-B1C987B4499F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041A627-ADAC-88BD-FD91-9415A3D53368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4" name="文本框 49">
              <a:extLst>
                <a:ext uri="{FF2B5EF4-FFF2-40B4-BE49-F238E27FC236}">
                  <a16:creationId xmlns:a16="http://schemas.microsoft.com/office/drawing/2014/main" id="{27C97FA1-DE6D-5A8A-EE13-8C772A7D1CA0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</p:txBody>
        </p:sp>
        <p:sp>
          <p:nvSpPr>
            <p:cNvPr id="75" name="文本框 48">
              <a:extLst>
                <a:ext uri="{FF2B5EF4-FFF2-40B4-BE49-F238E27FC236}">
                  <a16:creationId xmlns:a16="http://schemas.microsoft.com/office/drawing/2014/main" id="{6655B95B-1927-C303-5AA1-88B29D4F12D3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02CC00F9-1ADD-A5CC-E532-8A382DCE7935}"/>
              </a:ext>
            </a:extLst>
          </p:cNvPr>
          <p:cNvCxnSpPr>
            <a:cxnSpLocks/>
          </p:cNvCxnSpPr>
          <p:nvPr/>
        </p:nvCxnSpPr>
        <p:spPr>
          <a:xfrm>
            <a:off x="3760787" y="100984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3CFFB48-FBCC-2886-7B7B-E2C0791D69B6}"/>
              </a:ext>
            </a:extLst>
          </p:cNvPr>
          <p:cNvCxnSpPr>
            <a:cxnSpLocks/>
          </p:cNvCxnSpPr>
          <p:nvPr/>
        </p:nvCxnSpPr>
        <p:spPr>
          <a:xfrm>
            <a:off x="3779837" y="1965658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D51CE45-8C1E-DCB6-2327-BDA22E51359D}"/>
              </a:ext>
            </a:extLst>
          </p:cNvPr>
          <p:cNvCxnSpPr>
            <a:cxnSpLocks/>
          </p:cNvCxnSpPr>
          <p:nvPr/>
        </p:nvCxnSpPr>
        <p:spPr>
          <a:xfrm>
            <a:off x="3767136" y="2929996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287733BD-EDFE-7BC4-4376-E9F33C225127}"/>
              </a:ext>
            </a:extLst>
          </p:cNvPr>
          <p:cNvCxnSpPr>
            <a:cxnSpLocks/>
          </p:cNvCxnSpPr>
          <p:nvPr/>
        </p:nvCxnSpPr>
        <p:spPr>
          <a:xfrm>
            <a:off x="3744911" y="389192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3FFA1F0-AB07-5967-DDFD-BE33F40A12D8}"/>
              </a:ext>
            </a:extLst>
          </p:cNvPr>
          <p:cNvCxnSpPr>
            <a:cxnSpLocks/>
          </p:cNvCxnSpPr>
          <p:nvPr/>
        </p:nvCxnSpPr>
        <p:spPr>
          <a:xfrm>
            <a:off x="3744911" y="4852097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文本框 49">
            <a:extLst>
              <a:ext uri="{FF2B5EF4-FFF2-40B4-BE49-F238E27FC236}">
                <a16:creationId xmlns:a16="http://schemas.microsoft.com/office/drawing/2014/main" id="{70FF06F7-75ED-BACB-CD4C-9027C7D40966}"/>
              </a:ext>
            </a:extLst>
          </p:cNvPr>
          <p:cNvSpPr txBox="1"/>
          <p:nvPr/>
        </p:nvSpPr>
        <p:spPr>
          <a:xfrm>
            <a:off x="1060284" y="2222822"/>
            <a:ext cx="7626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CE3FE26F-2B0B-5C1B-BAFE-96E7CFFCD789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5A360FBC-8B08-F2D4-98CD-ADA9C6039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平行四边形 21">
            <a:extLst>
              <a:ext uri="{FF2B5EF4-FFF2-40B4-BE49-F238E27FC236}">
                <a16:creationId xmlns:a16="http://schemas.microsoft.com/office/drawing/2014/main" id="{2246B45C-2578-1F6D-C7EF-AA978BAF4C5A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9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09217-CBE6-8ADC-8A89-AA1E81346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: 圆角 31">
            <a:extLst>
              <a:ext uri="{FF2B5EF4-FFF2-40B4-BE49-F238E27FC236}">
                <a16:creationId xmlns:a16="http://schemas.microsoft.com/office/drawing/2014/main" id="{DC5BFBB1-AE47-CA50-7FE0-4A6890C7FE9E}"/>
              </a:ext>
            </a:extLst>
          </p:cNvPr>
          <p:cNvSpPr/>
          <p:nvPr/>
        </p:nvSpPr>
        <p:spPr>
          <a:xfrm>
            <a:off x="8307244" y="1061763"/>
            <a:ext cx="3678872" cy="5764683"/>
          </a:xfrm>
          <a:prstGeom prst="roundRect">
            <a:avLst>
              <a:gd name="adj" fmla="val 2914"/>
            </a:avLst>
          </a:prstGeom>
          <a:noFill/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55" name="矩形: 圆角 31">
            <a:extLst>
              <a:ext uri="{FF2B5EF4-FFF2-40B4-BE49-F238E27FC236}">
                <a16:creationId xmlns:a16="http://schemas.microsoft.com/office/drawing/2014/main" id="{A0F6FAAB-5E45-C60C-F955-0404576D66B1}"/>
              </a:ext>
            </a:extLst>
          </p:cNvPr>
          <p:cNvSpPr/>
          <p:nvPr/>
        </p:nvSpPr>
        <p:spPr>
          <a:xfrm>
            <a:off x="4397806" y="1061763"/>
            <a:ext cx="3838508" cy="5764683"/>
          </a:xfrm>
          <a:prstGeom prst="roundRect">
            <a:avLst>
              <a:gd name="adj" fmla="val 2914"/>
            </a:avLst>
          </a:prstGeom>
          <a:noFill/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53" name="矩形: 圆角 31">
            <a:extLst>
              <a:ext uri="{FF2B5EF4-FFF2-40B4-BE49-F238E27FC236}">
                <a16:creationId xmlns:a16="http://schemas.microsoft.com/office/drawing/2014/main" id="{37F02B9E-0968-5BA1-1933-9F3F017D398E}"/>
              </a:ext>
            </a:extLst>
          </p:cNvPr>
          <p:cNvSpPr/>
          <p:nvPr/>
        </p:nvSpPr>
        <p:spPr>
          <a:xfrm>
            <a:off x="54882" y="1061763"/>
            <a:ext cx="4294400" cy="5764683"/>
          </a:xfrm>
          <a:prstGeom prst="roundRect">
            <a:avLst>
              <a:gd name="adj" fmla="val 2914"/>
            </a:avLst>
          </a:prstGeom>
          <a:noFill/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1690AB-D0F1-9494-E915-DA7CE7E57EA9}"/>
              </a:ext>
            </a:extLst>
          </p:cNvPr>
          <p:cNvSpPr txBox="1"/>
          <p:nvPr/>
        </p:nvSpPr>
        <p:spPr>
          <a:xfrm>
            <a:off x="1089689" y="164076"/>
            <a:ext cx="2456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907B1C-CBE0-343C-7D33-3AA14008AE00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E835251-408E-74FB-AC4A-58F9346865FB}"/>
              </a:ext>
            </a:extLst>
          </p:cNvPr>
          <p:cNvSpPr txBox="1"/>
          <p:nvPr/>
        </p:nvSpPr>
        <p:spPr>
          <a:xfrm>
            <a:off x="70593" y="2557474"/>
            <a:ext cx="4171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Griffith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键断裂模型，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Irwin–Orowan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体积耗散模型，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Lake–Thomas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断链模型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Yang (2020) Advanced Functional Materials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B6012A-7063-9DF7-7F79-FD1E272DFEBE}"/>
              </a:ext>
            </a:extLst>
          </p:cNvPr>
          <p:cNvSpPr txBox="1"/>
          <p:nvPr/>
        </p:nvSpPr>
        <p:spPr>
          <a:xfrm>
            <a:off x="2697720" y="197364"/>
            <a:ext cx="4450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粘接结构失效的相关理论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A7F21F2-2180-2D0D-CD65-4C6D95C17EF5}"/>
              </a:ext>
            </a:extLst>
          </p:cNvPr>
          <p:cNvCxnSpPr>
            <a:cxnSpLocks/>
          </p:cNvCxnSpPr>
          <p:nvPr/>
        </p:nvCxnSpPr>
        <p:spPr>
          <a:xfrm>
            <a:off x="2665883" y="274008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BA5C71C-3643-C712-EEC5-3C832A0738A3}"/>
              </a:ext>
            </a:extLst>
          </p:cNvPr>
          <p:cNvSpPr txBox="1"/>
          <p:nvPr/>
        </p:nvSpPr>
        <p:spPr>
          <a:xfrm>
            <a:off x="347441" y="4731314"/>
            <a:ext cx="3516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基底膜双层结构的特征尺寸图及失效相图</a:t>
            </a:r>
            <a:endParaRPr lang="en-US" altLang="zh-CN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Shao (2023) Journal of Applied Mechanics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4725FF-811F-3428-5E4B-C6738F5A9AA8}"/>
              </a:ext>
            </a:extLst>
          </p:cNvPr>
          <p:cNvSpPr txBox="1"/>
          <p:nvPr/>
        </p:nvSpPr>
        <p:spPr>
          <a:xfrm>
            <a:off x="4998763" y="6368326"/>
            <a:ext cx="2592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牵引分离准则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Park (2011)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Applied Mechanics Reviews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06205B3-1D4D-E795-3647-21441165A7DC}"/>
              </a:ext>
            </a:extLst>
          </p:cNvPr>
          <p:cNvSpPr txBox="1"/>
          <p:nvPr/>
        </p:nvSpPr>
        <p:spPr>
          <a:xfrm>
            <a:off x="8322389" y="2711529"/>
            <a:ext cx="187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Volkersen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粘合剂剪切应力分布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Volkersen (1938) </a:t>
            </a:r>
            <a:r>
              <a:rPr lang="en-US" altLang="zh-CN" sz="1200" dirty="0" err="1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Luftfahrtfor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Schung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F7DD788-4209-126D-852D-1058FDC93D5D}"/>
              </a:ext>
            </a:extLst>
          </p:cNvPr>
          <p:cNvSpPr txBox="1"/>
          <p:nvPr/>
        </p:nvSpPr>
        <p:spPr>
          <a:xfrm>
            <a:off x="8885795" y="6377322"/>
            <a:ext cx="2574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归一化接头长度的应力分布</a:t>
            </a:r>
            <a:endParaRPr lang="en-US" altLang="zh-CN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Wang (2021) Mechanics of Materials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6948236-4E65-606C-B676-E3C77A0B3E4C}"/>
              </a:ext>
            </a:extLst>
          </p:cNvPr>
          <p:cNvSpPr txBox="1"/>
          <p:nvPr/>
        </p:nvSpPr>
        <p:spPr>
          <a:xfrm>
            <a:off x="112087" y="6372416"/>
            <a:ext cx="4171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界面开裂图及临界断裂伸长率与裂纹长度关系图</a:t>
            </a:r>
            <a:endParaRPr lang="en-US" altLang="zh-CN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Cai (2023) Journal of the Mechanics and Physics of Solids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六边形 72">
            <a:extLst>
              <a:ext uri="{FF2B5EF4-FFF2-40B4-BE49-F238E27FC236}">
                <a16:creationId xmlns:a16="http://schemas.microsoft.com/office/drawing/2014/main" id="{660D665D-779E-EA76-7E26-B868C3718E1D}"/>
              </a:ext>
            </a:extLst>
          </p:cNvPr>
          <p:cNvSpPr/>
          <p:nvPr/>
        </p:nvSpPr>
        <p:spPr>
          <a:xfrm>
            <a:off x="608287" y="881098"/>
            <a:ext cx="3060000" cy="369078"/>
          </a:xfrm>
          <a:custGeom>
            <a:avLst/>
            <a:gdLst>
              <a:gd name="connsiteX0" fmla="*/ 6146 w 2770219"/>
              <a:gd name="connsiteY0" fmla="*/ 199496 h 439212"/>
              <a:gd name="connsiteX1" fmla="*/ 129805 w 2770219"/>
              <a:gd name="connsiteY1" fmla="*/ 15890 h 439212"/>
              <a:gd name="connsiteX2" fmla="*/ 159665 w 2770219"/>
              <a:gd name="connsiteY2" fmla="*/ 0 h 439212"/>
              <a:gd name="connsiteX3" fmla="*/ 2610566 w 2770219"/>
              <a:gd name="connsiteY3" fmla="*/ 0 h 439212"/>
              <a:gd name="connsiteX4" fmla="*/ 2640425 w 2770219"/>
              <a:gd name="connsiteY4" fmla="*/ 15890 h 439212"/>
              <a:gd name="connsiteX5" fmla="*/ 2764084 w 2770219"/>
              <a:gd name="connsiteY5" fmla="*/ 199496 h 439212"/>
              <a:gd name="connsiteX6" fmla="*/ 2764084 w 2770219"/>
              <a:gd name="connsiteY6" fmla="*/ 239716 h 439212"/>
              <a:gd name="connsiteX7" fmla="*/ 2640425 w 2770219"/>
              <a:gd name="connsiteY7" fmla="*/ 423322 h 439212"/>
              <a:gd name="connsiteX8" fmla="*/ 2610566 w 2770219"/>
              <a:gd name="connsiteY8" fmla="*/ 439212 h 439212"/>
              <a:gd name="connsiteX9" fmla="*/ 159665 w 2770219"/>
              <a:gd name="connsiteY9" fmla="*/ 439212 h 439212"/>
              <a:gd name="connsiteX10" fmla="*/ 129805 w 2770219"/>
              <a:gd name="connsiteY10" fmla="*/ 423322 h 439212"/>
              <a:gd name="connsiteX11" fmla="*/ 6146 w 2770219"/>
              <a:gd name="connsiteY11" fmla="*/ 239716 h 439212"/>
              <a:gd name="connsiteX12" fmla="*/ 6146 w 2770219"/>
              <a:gd name="connsiteY12" fmla="*/ 199496 h 4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70219" h="439212">
                <a:moveTo>
                  <a:pt x="6146" y="199496"/>
                </a:moveTo>
                <a:lnTo>
                  <a:pt x="129805" y="15890"/>
                </a:lnTo>
                <a:cubicBezTo>
                  <a:pt x="136494" y="5959"/>
                  <a:pt x="147691" y="0"/>
                  <a:pt x="159665" y="0"/>
                </a:cubicBezTo>
                <a:lnTo>
                  <a:pt x="2610566" y="0"/>
                </a:lnTo>
                <a:cubicBezTo>
                  <a:pt x="2622539" y="0"/>
                  <a:pt x="2633736" y="5959"/>
                  <a:pt x="2640425" y="15890"/>
                </a:cubicBezTo>
                <a:lnTo>
                  <a:pt x="2764084" y="199496"/>
                </a:lnTo>
                <a:cubicBezTo>
                  <a:pt x="2772264" y="211642"/>
                  <a:pt x="2772264" y="227570"/>
                  <a:pt x="2764084" y="239716"/>
                </a:cubicBezTo>
                <a:lnTo>
                  <a:pt x="2640425" y="423322"/>
                </a:lnTo>
                <a:cubicBezTo>
                  <a:pt x="2633736" y="433253"/>
                  <a:pt x="2622539" y="439212"/>
                  <a:pt x="2610566" y="439212"/>
                </a:cubicBezTo>
                <a:lnTo>
                  <a:pt x="159665" y="439212"/>
                </a:lnTo>
                <a:cubicBezTo>
                  <a:pt x="147691" y="439212"/>
                  <a:pt x="136494" y="433253"/>
                  <a:pt x="129805" y="423322"/>
                </a:cubicBezTo>
                <a:lnTo>
                  <a:pt x="6146" y="239716"/>
                </a:lnTo>
                <a:cubicBezTo>
                  <a:pt x="-2048" y="227550"/>
                  <a:pt x="-2048" y="211662"/>
                  <a:pt x="6146" y="199496"/>
                </a:cubicBezTo>
              </a:path>
            </a:pathLst>
          </a:custGeom>
          <a:solidFill>
            <a:srgbClr val="003399"/>
          </a:solidFill>
          <a:ln w="19050" cap="flat" cmpd="sng" algn="ctr">
            <a:noFill/>
            <a:prstDash val="solid"/>
            <a:miter lim="800000"/>
          </a:ln>
          <a:effectLst>
            <a:outerShdw blurRad="165100" dist="38100" dir="2700000" algn="tl" rotWithShape="0">
              <a:srgbClr val="012E5B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粘接结构的断裂力学理论</a:t>
            </a:r>
          </a:p>
        </p:txBody>
      </p:sp>
      <p:sp>
        <p:nvSpPr>
          <p:cNvPr id="63" name="六边形 72">
            <a:extLst>
              <a:ext uri="{FF2B5EF4-FFF2-40B4-BE49-F238E27FC236}">
                <a16:creationId xmlns:a16="http://schemas.microsoft.com/office/drawing/2014/main" id="{86933457-D51A-63BA-92DD-91FE5A53C77F}"/>
              </a:ext>
            </a:extLst>
          </p:cNvPr>
          <p:cNvSpPr/>
          <p:nvPr/>
        </p:nvSpPr>
        <p:spPr>
          <a:xfrm>
            <a:off x="4762037" y="876820"/>
            <a:ext cx="3060000" cy="369078"/>
          </a:xfrm>
          <a:custGeom>
            <a:avLst/>
            <a:gdLst>
              <a:gd name="connsiteX0" fmla="*/ 6146 w 2770219"/>
              <a:gd name="connsiteY0" fmla="*/ 199496 h 439212"/>
              <a:gd name="connsiteX1" fmla="*/ 129805 w 2770219"/>
              <a:gd name="connsiteY1" fmla="*/ 15890 h 439212"/>
              <a:gd name="connsiteX2" fmla="*/ 159665 w 2770219"/>
              <a:gd name="connsiteY2" fmla="*/ 0 h 439212"/>
              <a:gd name="connsiteX3" fmla="*/ 2610566 w 2770219"/>
              <a:gd name="connsiteY3" fmla="*/ 0 h 439212"/>
              <a:gd name="connsiteX4" fmla="*/ 2640425 w 2770219"/>
              <a:gd name="connsiteY4" fmla="*/ 15890 h 439212"/>
              <a:gd name="connsiteX5" fmla="*/ 2764084 w 2770219"/>
              <a:gd name="connsiteY5" fmla="*/ 199496 h 439212"/>
              <a:gd name="connsiteX6" fmla="*/ 2764084 w 2770219"/>
              <a:gd name="connsiteY6" fmla="*/ 239716 h 439212"/>
              <a:gd name="connsiteX7" fmla="*/ 2640425 w 2770219"/>
              <a:gd name="connsiteY7" fmla="*/ 423322 h 439212"/>
              <a:gd name="connsiteX8" fmla="*/ 2610566 w 2770219"/>
              <a:gd name="connsiteY8" fmla="*/ 439212 h 439212"/>
              <a:gd name="connsiteX9" fmla="*/ 159665 w 2770219"/>
              <a:gd name="connsiteY9" fmla="*/ 439212 h 439212"/>
              <a:gd name="connsiteX10" fmla="*/ 129805 w 2770219"/>
              <a:gd name="connsiteY10" fmla="*/ 423322 h 439212"/>
              <a:gd name="connsiteX11" fmla="*/ 6146 w 2770219"/>
              <a:gd name="connsiteY11" fmla="*/ 239716 h 439212"/>
              <a:gd name="connsiteX12" fmla="*/ 6146 w 2770219"/>
              <a:gd name="connsiteY12" fmla="*/ 199496 h 4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70219" h="439212">
                <a:moveTo>
                  <a:pt x="6146" y="199496"/>
                </a:moveTo>
                <a:lnTo>
                  <a:pt x="129805" y="15890"/>
                </a:lnTo>
                <a:cubicBezTo>
                  <a:pt x="136494" y="5959"/>
                  <a:pt x="147691" y="0"/>
                  <a:pt x="159665" y="0"/>
                </a:cubicBezTo>
                <a:lnTo>
                  <a:pt x="2610566" y="0"/>
                </a:lnTo>
                <a:cubicBezTo>
                  <a:pt x="2622539" y="0"/>
                  <a:pt x="2633736" y="5959"/>
                  <a:pt x="2640425" y="15890"/>
                </a:cubicBezTo>
                <a:lnTo>
                  <a:pt x="2764084" y="199496"/>
                </a:lnTo>
                <a:cubicBezTo>
                  <a:pt x="2772264" y="211642"/>
                  <a:pt x="2772264" y="227570"/>
                  <a:pt x="2764084" y="239716"/>
                </a:cubicBezTo>
                <a:lnTo>
                  <a:pt x="2640425" y="423322"/>
                </a:lnTo>
                <a:cubicBezTo>
                  <a:pt x="2633736" y="433253"/>
                  <a:pt x="2622539" y="439212"/>
                  <a:pt x="2610566" y="439212"/>
                </a:cubicBezTo>
                <a:lnTo>
                  <a:pt x="159665" y="439212"/>
                </a:lnTo>
                <a:cubicBezTo>
                  <a:pt x="147691" y="439212"/>
                  <a:pt x="136494" y="433253"/>
                  <a:pt x="129805" y="423322"/>
                </a:cubicBezTo>
                <a:lnTo>
                  <a:pt x="6146" y="239716"/>
                </a:lnTo>
                <a:cubicBezTo>
                  <a:pt x="-2048" y="227550"/>
                  <a:pt x="-2048" y="211662"/>
                  <a:pt x="6146" y="199496"/>
                </a:cubicBezTo>
              </a:path>
            </a:pathLst>
          </a:custGeom>
          <a:solidFill>
            <a:srgbClr val="003399"/>
          </a:solidFill>
          <a:ln w="19050" cap="flat" cmpd="sng" algn="ctr">
            <a:noFill/>
            <a:prstDash val="solid"/>
            <a:miter lim="800000"/>
          </a:ln>
          <a:effectLst>
            <a:outerShdw blurRad="165100" dist="38100" dir="2700000" algn="tl" rotWithShape="0">
              <a:srgbClr val="012E5B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457200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粘接结构的内聚区模型</a:t>
            </a:r>
          </a:p>
        </p:txBody>
      </p:sp>
      <p:sp>
        <p:nvSpPr>
          <p:cNvPr id="65" name="六边形 72">
            <a:extLst>
              <a:ext uri="{FF2B5EF4-FFF2-40B4-BE49-F238E27FC236}">
                <a16:creationId xmlns:a16="http://schemas.microsoft.com/office/drawing/2014/main" id="{30714DBD-7DA8-BA50-FB40-55C98869FAEF}"/>
              </a:ext>
            </a:extLst>
          </p:cNvPr>
          <p:cNvSpPr/>
          <p:nvPr/>
        </p:nvSpPr>
        <p:spPr>
          <a:xfrm>
            <a:off x="8616680" y="876820"/>
            <a:ext cx="3060000" cy="369078"/>
          </a:xfrm>
          <a:custGeom>
            <a:avLst/>
            <a:gdLst>
              <a:gd name="connsiteX0" fmla="*/ 6146 w 2770219"/>
              <a:gd name="connsiteY0" fmla="*/ 199496 h 439212"/>
              <a:gd name="connsiteX1" fmla="*/ 129805 w 2770219"/>
              <a:gd name="connsiteY1" fmla="*/ 15890 h 439212"/>
              <a:gd name="connsiteX2" fmla="*/ 159665 w 2770219"/>
              <a:gd name="connsiteY2" fmla="*/ 0 h 439212"/>
              <a:gd name="connsiteX3" fmla="*/ 2610566 w 2770219"/>
              <a:gd name="connsiteY3" fmla="*/ 0 h 439212"/>
              <a:gd name="connsiteX4" fmla="*/ 2640425 w 2770219"/>
              <a:gd name="connsiteY4" fmla="*/ 15890 h 439212"/>
              <a:gd name="connsiteX5" fmla="*/ 2764084 w 2770219"/>
              <a:gd name="connsiteY5" fmla="*/ 199496 h 439212"/>
              <a:gd name="connsiteX6" fmla="*/ 2764084 w 2770219"/>
              <a:gd name="connsiteY6" fmla="*/ 239716 h 439212"/>
              <a:gd name="connsiteX7" fmla="*/ 2640425 w 2770219"/>
              <a:gd name="connsiteY7" fmla="*/ 423322 h 439212"/>
              <a:gd name="connsiteX8" fmla="*/ 2610566 w 2770219"/>
              <a:gd name="connsiteY8" fmla="*/ 439212 h 439212"/>
              <a:gd name="connsiteX9" fmla="*/ 159665 w 2770219"/>
              <a:gd name="connsiteY9" fmla="*/ 439212 h 439212"/>
              <a:gd name="connsiteX10" fmla="*/ 129805 w 2770219"/>
              <a:gd name="connsiteY10" fmla="*/ 423322 h 439212"/>
              <a:gd name="connsiteX11" fmla="*/ 6146 w 2770219"/>
              <a:gd name="connsiteY11" fmla="*/ 239716 h 439212"/>
              <a:gd name="connsiteX12" fmla="*/ 6146 w 2770219"/>
              <a:gd name="connsiteY12" fmla="*/ 199496 h 4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70219" h="439212">
                <a:moveTo>
                  <a:pt x="6146" y="199496"/>
                </a:moveTo>
                <a:lnTo>
                  <a:pt x="129805" y="15890"/>
                </a:lnTo>
                <a:cubicBezTo>
                  <a:pt x="136494" y="5959"/>
                  <a:pt x="147691" y="0"/>
                  <a:pt x="159665" y="0"/>
                </a:cubicBezTo>
                <a:lnTo>
                  <a:pt x="2610566" y="0"/>
                </a:lnTo>
                <a:cubicBezTo>
                  <a:pt x="2622539" y="0"/>
                  <a:pt x="2633736" y="5959"/>
                  <a:pt x="2640425" y="15890"/>
                </a:cubicBezTo>
                <a:lnTo>
                  <a:pt x="2764084" y="199496"/>
                </a:lnTo>
                <a:cubicBezTo>
                  <a:pt x="2772264" y="211642"/>
                  <a:pt x="2772264" y="227570"/>
                  <a:pt x="2764084" y="239716"/>
                </a:cubicBezTo>
                <a:lnTo>
                  <a:pt x="2640425" y="423322"/>
                </a:lnTo>
                <a:cubicBezTo>
                  <a:pt x="2633736" y="433253"/>
                  <a:pt x="2622539" y="439212"/>
                  <a:pt x="2610566" y="439212"/>
                </a:cubicBezTo>
                <a:lnTo>
                  <a:pt x="159665" y="439212"/>
                </a:lnTo>
                <a:cubicBezTo>
                  <a:pt x="147691" y="439212"/>
                  <a:pt x="136494" y="433253"/>
                  <a:pt x="129805" y="423322"/>
                </a:cubicBezTo>
                <a:lnTo>
                  <a:pt x="6146" y="239716"/>
                </a:lnTo>
                <a:cubicBezTo>
                  <a:pt x="-2048" y="227550"/>
                  <a:pt x="-2048" y="211662"/>
                  <a:pt x="6146" y="199496"/>
                </a:cubicBezTo>
              </a:path>
            </a:pathLst>
          </a:custGeom>
          <a:solidFill>
            <a:srgbClr val="003399"/>
          </a:solidFill>
          <a:ln w="19050" cap="flat" cmpd="sng" algn="ctr">
            <a:noFill/>
            <a:prstDash val="solid"/>
            <a:miter lim="800000"/>
          </a:ln>
          <a:effectLst>
            <a:outerShdw blurRad="165100" dist="38100" dir="2700000" algn="tl" rotWithShape="0">
              <a:srgbClr val="012E5B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457200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粘接结构中的剪切滞后理论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BB8F66-30B8-79F3-ECAD-F357FE29D945}"/>
              </a:ext>
            </a:extLst>
          </p:cNvPr>
          <p:cNvSpPr txBox="1"/>
          <p:nvPr/>
        </p:nvSpPr>
        <p:spPr>
          <a:xfrm>
            <a:off x="4771324" y="2761670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多项式准则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42603D-722F-C8CB-7CE1-7C954198B576}"/>
              </a:ext>
            </a:extLst>
          </p:cNvPr>
          <p:cNvSpPr txBox="1"/>
          <p:nvPr/>
        </p:nvSpPr>
        <p:spPr>
          <a:xfrm>
            <a:off x="6700161" y="2766125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梯形准则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673B3F-07F0-19A2-9BB1-262255DA5484}"/>
              </a:ext>
            </a:extLst>
          </p:cNvPr>
          <p:cNvSpPr txBox="1"/>
          <p:nvPr/>
        </p:nvSpPr>
        <p:spPr>
          <a:xfrm>
            <a:off x="4801779" y="4415647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平滑梯形准则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1B3DC4-FAD3-DBD1-658E-FD6D66E5F35A}"/>
              </a:ext>
            </a:extLst>
          </p:cNvPr>
          <p:cNvSpPr txBox="1"/>
          <p:nvPr/>
        </p:nvSpPr>
        <p:spPr>
          <a:xfrm>
            <a:off x="6700161" y="4421353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指数准则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0FDF74-FDD1-498E-68A6-B6D5AB48E7C9}"/>
              </a:ext>
            </a:extLst>
          </p:cNvPr>
          <p:cNvSpPr txBox="1"/>
          <p:nvPr/>
        </p:nvSpPr>
        <p:spPr>
          <a:xfrm>
            <a:off x="4837358" y="6094818"/>
            <a:ext cx="1236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双线性准则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544FEF-D683-F5DE-B177-F85E3CB3FF19}"/>
              </a:ext>
            </a:extLst>
          </p:cNvPr>
          <p:cNvSpPr txBox="1"/>
          <p:nvPr/>
        </p:nvSpPr>
        <p:spPr>
          <a:xfrm>
            <a:off x="6659396" y="6094817"/>
            <a:ext cx="1317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双线性软化准则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E4D7581-DCB0-5460-33DC-CB5C6F959344}"/>
              </a:ext>
            </a:extLst>
          </p:cNvPr>
          <p:cNvSpPr txBox="1"/>
          <p:nvPr/>
        </p:nvSpPr>
        <p:spPr>
          <a:xfrm>
            <a:off x="10179256" y="2761746"/>
            <a:ext cx="1877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Goland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粘合剂剪切和剥离应力分布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Goland (1944)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5B65ED6-D48E-234C-3EA8-6B7B12EBDA45}"/>
              </a:ext>
            </a:extLst>
          </p:cNvPr>
          <p:cNvSpPr txBox="1"/>
          <p:nvPr/>
        </p:nvSpPr>
        <p:spPr>
          <a:xfrm>
            <a:off x="8382774" y="5022638"/>
            <a:ext cx="3651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双面胶接头对剪切和剥离应力分布的影响 </a:t>
            </a:r>
            <a:r>
              <a:rPr lang="en-US" altLang="zh-CN" sz="12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Akhavan (2022) International Journal of Adhesion and Adhesives</a:t>
            </a:r>
            <a:endParaRPr lang="zh-CN" altLang="en-US" sz="12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A4A67EEE-32E8-91D4-50AD-8D78257A5C7D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4">
            <a:extLst>
              <a:ext uri="{FF2B5EF4-FFF2-40B4-BE49-F238E27FC236}">
                <a16:creationId xmlns:a16="http://schemas.microsoft.com/office/drawing/2014/main" id="{C5B94B7D-CC31-D546-188F-7AD09E8EF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5A2E878B-A234-1EED-17FA-AA9ACEC85112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00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B89E-655D-4B53-538F-98462068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B9220E6-980E-0265-6DF9-08DCA7D77D1A}"/>
              </a:ext>
            </a:extLst>
          </p:cNvPr>
          <p:cNvSpPr txBox="1"/>
          <p:nvPr/>
        </p:nvSpPr>
        <p:spPr>
          <a:xfrm>
            <a:off x="1089689" y="164076"/>
            <a:ext cx="2456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6A721D-240B-8E69-C718-75EE99D814F1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D4BA69-5A8F-6C88-DBE0-AD3A80E91776}"/>
              </a:ext>
            </a:extLst>
          </p:cNvPr>
          <p:cNvSpPr txBox="1"/>
          <p:nvPr/>
        </p:nvSpPr>
        <p:spPr>
          <a:xfrm>
            <a:off x="2697720" y="197364"/>
            <a:ext cx="4842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本文的主要研究内容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4364847-BFE7-C29A-8805-D95455083528}"/>
              </a:ext>
            </a:extLst>
          </p:cNvPr>
          <p:cNvCxnSpPr>
            <a:cxnSpLocks/>
          </p:cNvCxnSpPr>
          <p:nvPr/>
        </p:nvCxnSpPr>
        <p:spPr>
          <a:xfrm>
            <a:off x="2665883" y="274008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BCE025-2042-38D5-2971-20698F8EE3FA}"/>
              </a:ext>
            </a:extLst>
          </p:cNvPr>
          <p:cNvSpPr/>
          <p:nvPr/>
        </p:nvSpPr>
        <p:spPr>
          <a:xfrm>
            <a:off x="584280" y="5354169"/>
            <a:ext cx="10918142" cy="1402232"/>
          </a:xfrm>
          <a:prstGeom prst="round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735933F-7EF1-C9FC-5D9D-827EC4E6EDFA}"/>
              </a:ext>
            </a:extLst>
          </p:cNvPr>
          <p:cNvSpPr/>
          <p:nvPr/>
        </p:nvSpPr>
        <p:spPr>
          <a:xfrm>
            <a:off x="584280" y="767780"/>
            <a:ext cx="10918142" cy="602668"/>
          </a:xfrm>
          <a:prstGeom prst="round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水凝胶粘接失效的速率效应研究</a:t>
            </a:r>
            <a:endParaRPr lang="zh-CN" altLang="zh-CN" sz="2400" b="1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853AE19-2B8E-2E27-D055-8F632C36137E}"/>
              </a:ext>
            </a:extLst>
          </p:cNvPr>
          <p:cNvSpPr/>
          <p:nvPr/>
        </p:nvSpPr>
        <p:spPr>
          <a:xfrm>
            <a:off x="584200" y="1488825"/>
            <a:ext cx="10922000" cy="3765346"/>
          </a:xfrm>
          <a:prstGeom prst="roundRect">
            <a:avLst>
              <a:gd name="adj" fmla="val 4593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 extrusionH="76200"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3F1F4354-223F-40D8-AF59-CB376CC9154E}"/>
              </a:ext>
            </a:extLst>
          </p:cNvPr>
          <p:cNvSpPr/>
          <p:nvPr/>
        </p:nvSpPr>
        <p:spPr>
          <a:xfrm>
            <a:off x="5469854" y="5078186"/>
            <a:ext cx="1580962" cy="403622"/>
          </a:xfrm>
          <a:prstGeom prst="downArrow">
            <a:avLst/>
          </a:prstGeom>
          <a:gradFill>
            <a:gsLst>
              <a:gs pos="0">
                <a:srgbClr val="CBE5FD"/>
              </a:gs>
              <a:gs pos="54000">
                <a:srgbClr val="A5CDB0"/>
              </a:gs>
              <a:gs pos="100000">
                <a:srgbClr val="70AD47"/>
              </a:gs>
            </a:gsLst>
          </a:gra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EAA768E-848A-A1F6-49F6-20E018A3A986}"/>
              </a:ext>
            </a:extLst>
          </p:cNvPr>
          <p:cNvSpPr txBox="1"/>
          <p:nvPr/>
        </p:nvSpPr>
        <p:spPr>
          <a:xfrm rot="20884548">
            <a:off x="9978348" y="3218873"/>
            <a:ext cx="436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PAA</a:t>
            </a:r>
            <a:endParaRPr lang="zh-CN" altLang="en-US" sz="1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EA30B6-59FE-723C-0D51-6874A8F7C6D7}"/>
              </a:ext>
            </a:extLst>
          </p:cNvPr>
          <p:cNvSpPr txBox="1"/>
          <p:nvPr/>
        </p:nvSpPr>
        <p:spPr>
          <a:xfrm>
            <a:off x="3212335" y="5386883"/>
            <a:ext cx="6096000" cy="40011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800" b="1" dirty="0" err="1">
                <a:solidFill>
                  <a:srgbClr val="4C8232"/>
                </a:solidFill>
                <a:latin typeface="Microsoft YaHei"/>
              </a:rPr>
              <a:t>速率稳定的柔软可拉伸拓扑粘接策略</a:t>
            </a:r>
            <a:endParaRPr lang="zh-CN" altLang="zh-CN" sz="2000" b="1" dirty="0">
              <a:solidFill>
                <a:srgbClr val="33711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EF83B5-D81E-A964-302F-DD3B415C9559}"/>
              </a:ext>
            </a:extLst>
          </p:cNvPr>
          <p:cNvSpPr txBox="1"/>
          <p:nvPr/>
        </p:nvSpPr>
        <p:spPr>
          <a:xfrm>
            <a:off x="3122302" y="1524386"/>
            <a:ext cx="6096000" cy="40011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800" b="1" dirty="0" err="1">
                <a:solidFill>
                  <a:srgbClr val="2A5697"/>
                </a:solidFill>
                <a:latin typeface="Microsoft YaHei"/>
              </a:rPr>
              <a:t>非共价粘接界面速率相关失效机制与理论建模</a:t>
            </a:r>
            <a:endParaRPr lang="zh-CN" altLang="zh-CN" sz="20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7F71F33-03DD-F625-C605-50D06B65213C}"/>
              </a:ext>
            </a:extLst>
          </p:cNvPr>
          <p:cNvSpPr/>
          <p:nvPr/>
        </p:nvSpPr>
        <p:spPr>
          <a:xfrm>
            <a:off x="1074553" y="1955494"/>
            <a:ext cx="3030974" cy="84450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第二章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非共价粘接双层水凝胶搭接剪切失效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B036591-A3E8-C347-8B04-5302988D6429}"/>
              </a:ext>
            </a:extLst>
          </p:cNvPr>
          <p:cNvSpPr/>
          <p:nvPr/>
        </p:nvSpPr>
        <p:spPr>
          <a:xfrm>
            <a:off x="1074553" y="3044491"/>
            <a:ext cx="3030974" cy="79616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第三章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水凝胶–刚性基底剪切脱粘失效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863DD39-2DC3-C8EE-7D54-6D93F53AF032}"/>
              </a:ext>
            </a:extLst>
          </p:cNvPr>
          <p:cNvSpPr/>
          <p:nvPr/>
        </p:nvSpPr>
        <p:spPr>
          <a:xfrm>
            <a:off x="4356931" y="2948883"/>
            <a:ext cx="4738813" cy="9658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5CDD2A5-86C9-7A6B-8E06-66EDC92414B4}"/>
              </a:ext>
            </a:extLst>
          </p:cNvPr>
          <p:cNvSpPr/>
          <p:nvPr/>
        </p:nvSpPr>
        <p:spPr>
          <a:xfrm>
            <a:off x="4466710" y="3022779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刚性基底</a:t>
            </a:r>
            <a:endParaRPr lang="en-US" altLang="zh-CN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剪切脱粘</a:t>
            </a:r>
            <a:endParaRPr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44AA080-EAA2-1D1F-0EAE-F3580924637B}"/>
              </a:ext>
            </a:extLst>
          </p:cNvPr>
          <p:cNvSpPr/>
          <p:nvPr/>
        </p:nvSpPr>
        <p:spPr>
          <a:xfrm>
            <a:off x="6045495" y="301644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UMAT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有限元模拟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2B2E33B-48EA-F546-9A9D-21D3F0EB1190}"/>
              </a:ext>
            </a:extLst>
          </p:cNvPr>
          <p:cNvSpPr/>
          <p:nvPr/>
        </p:nvSpPr>
        <p:spPr>
          <a:xfrm>
            <a:off x="7605959" y="301644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峰值力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400" b="1">
                <a:solidFill>
                  <a:srgbClr val="000000"/>
                </a:solidFill>
                <a:latin typeface="Microsoft YaHei"/>
              </a:rPr>
              <a:t>速率/结构机制</a:t>
            </a: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E8148DD5-8999-3ABA-E9BA-98F8B73DF8AB}"/>
              </a:ext>
            </a:extLst>
          </p:cNvPr>
          <p:cNvSpPr/>
          <p:nvPr/>
        </p:nvSpPr>
        <p:spPr>
          <a:xfrm>
            <a:off x="5800597" y="324542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3866456D-882C-11D6-8DB8-75EF4F959E4A}"/>
              </a:ext>
            </a:extLst>
          </p:cNvPr>
          <p:cNvSpPr/>
          <p:nvPr/>
        </p:nvSpPr>
        <p:spPr>
          <a:xfrm>
            <a:off x="7388085" y="324542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B06EE4B0-774B-1E6A-805F-820A23806EEB}"/>
              </a:ext>
            </a:extLst>
          </p:cNvPr>
          <p:cNvSpPr/>
          <p:nvPr/>
        </p:nvSpPr>
        <p:spPr>
          <a:xfrm>
            <a:off x="1051424" y="4085148"/>
            <a:ext cx="3069239" cy="73898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第四章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600" b="1">
                <a:solidFill>
                  <a:srgbClr val="00448D"/>
                </a:solidFill>
                <a:latin typeface="Microsoft YaHei"/>
              </a:rPr>
              <a:t>非共价粘接水凝胶180°剥离失效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9CD60B31-DCD9-7513-B3A6-578BC0060D1C}"/>
              </a:ext>
            </a:extLst>
          </p:cNvPr>
          <p:cNvSpPr/>
          <p:nvPr/>
        </p:nvSpPr>
        <p:spPr>
          <a:xfrm>
            <a:off x="1089598" y="5751702"/>
            <a:ext cx="3015929" cy="86470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407523"/>
                </a:solidFill>
                <a:latin typeface="Microsoft YaHei"/>
              </a:rPr>
              <a:t>第五章</a:t>
            </a:r>
            <a:endParaRPr lang="en-US" altLang="zh-CN" sz="1600" b="1" dirty="0">
              <a:solidFill>
                <a:srgbClr val="33711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500" b="1">
                <a:solidFill>
                  <a:srgbClr val="407523"/>
                </a:solidFill>
                <a:latin typeface="Microsoft YaHei"/>
              </a:rPr>
              <a:t>水凝胶柔软可拉伸拓扑粘接方法及应用</a:t>
            </a: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F66A1B8A-98AB-ADA0-512D-DAA1BD4D6874}"/>
              </a:ext>
            </a:extLst>
          </p:cNvPr>
          <p:cNvSpPr/>
          <p:nvPr/>
        </p:nvSpPr>
        <p:spPr>
          <a:xfrm>
            <a:off x="4333891" y="5718777"/>
            <a:ext cx="4764965" cy="9658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CD13DF0-7978-F4A6-2324-4F6B428552C0}"/>
              </a:ext>
            </a:extLst>
          </p:cNvPr>
          <p:cNvSpPr/>
          <p:nvPr/>
        </p:nvSpPr>
        <p:spPr>
          <a:xfrm>
            <a:off x="4446380" y="5792673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PAAm缝合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拓扑缠结</a:t>
            </a: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C8D3EDF3-E9AD-15C2-3DB8-70FF57A953A9}"/>
              </a:ext>
            </a:extLst>
          </p:cNvPr>
          <p:cNvSpPr/>
          <p:nvPr/>
        </p:nvSpPr>
        <p:spPr>
          <a:xfrm>
            <a:off x="6051318" y="5781109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300" b="1" dirty="0" err="1">
                <a:solidFill>
                  <a:srgbClr val="000000"/>
                </a:solidFill>
                <a:latin typeface="Microsoft YaHei"/>
              </a:rPr>
              <a:t>柔软可拉伸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300" b="1" dirty="0" err="1">
                <a:solidFill>
                  <a:srgbClr val="000000"/>
                </a:solidFill>
                <a:latin typeface="Microsoft YaHei"/>
              </a:rPr>
              <a:t>速率稳定</a:t>
            </a:r>
            <a:endParaRPr sz="1300" b="1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6A80FD66-8B3C-FF08-17D5-CB3EAC364027}"/>
              </a:ext>
            </a:extLst>
          </p:cNvPr>
          <p:cNvSpPr/>
          <p:nvPr/>
        </p:nvSpPr>
        <p:spPr>
          <a:xfrm>
            <a:off x="7611782" y="578111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柔性传感</a:t>
            </a:r>
            <a:endParaRPr lang="zh-CN" altLang="en-US" sz="10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软驱动集成</a:t>
            </a:r>
          </a:p>
        </p:txBody>
      </p:sp>
      <p:sp>
        <p:nvSpPr>
          <p:cNvPr id="124" name="箭头: 右 123">
            <a:extLst>
              <a:ext uri="{FF2B5EF4-FFF2-40B4-BE49-F238E27FC236}">
                <a16:creationId xmlns:a16="http://schemas.microsoft.com/office/drawing/2014/main" id="{5A60C21A-EDAF-C633-B89C-6A394DFC251F}"/>
              </a:ext>
            </a:extLst>
          </p:cNvPr>
          <p:cNvSpPr/>
          <p:nvPr/>
        </p:nvSpPr>
        <p:spPr>
          <a:xfrm>
            <a:off x="5790685" y="5994516"/>
            <a:ext cx="328802" cy="32348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6" name="箭头: 右 125">
            <a:extLst>
              <a:ext uri="{FF2B5EF4-FFF2-40B4-BE49-F238E27FC236}">
                <a16:creationId xmlns:a16="http://schemas.microsoft.com/office/drawing/2014/main" id="{1EF42F13-6271-0721-65BC-A39A357CDB04}"/>
              </a:ext>
            </a:extLst>
          </p:cNvPr>
          <p:cNvSpPr/>
          <p:nvPr/>
        </p:nvSpPr>
        <p:spPr>
          <a:xfrm>
            <a:off x="7383532" y="6013039"/>
            <a:ext cx="327600" cy="32348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B0DBAC9E-4038-0EC1-78C8-95185807F702}"/>
              </a:ext>
            </a:extLst>
          </p:cNvPr>
          <p:cNvSpPr/>
          <p:nvPr/>
        </p:nvSpPr>
        <p:spPr>
          <a:xfrm>
            <a:off x="4356931" y="4006333"/>
            <a:ext cx="4738813" cy="9658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8A255EFC-A391-EEB9-71B6-158161E2CE22}"/>
              </a:ext>
            </a:extLst>
          </p:cNvPr>
          <p:cNvSpPr/>
          <p:nvPr/>
        </p:nvSpPr>
        <p:spPr>
          <a:xfrm>
            <a:off x="4466710" y="4080229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180°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剥离</a:t>
            </a: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88FC20B7-D904-B4BE-872B-D704087F949E}"/>
              </a:ext>
            </a:extLst>
          </p:cNvPr>
          <p:cNvSpPr/>
          <p:nvPr/>
        </p:nvSpPr>
        <p:spPr>
          <a:xfrm>
            <a:off x="6045495" y="407389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界面损伤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有限元模型</a:t>
            </a: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67ACD00D-7A5E-2F36-6DAD-84D80446DF07}"/>
              </a:ext>
            </a:extLst>
          </p:cNvPr>
          <p:cNvSpPr/>
          <p:nvPr/>
        </p:nvSpPr>
        <p:spPr>
          <a:xfrm>
            <a:off x="7605959" y="4073890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粘附能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速率机制</a:t>
            </a:r>
          </a:p>
        </p:txBody>
      </p:sp>
      <p:sp>
        <p:nvSpPr>
          <p:cNvPr id="148" name="箭头: 右 147">
            <a:extLst>
              <a:ext uri="{FF2B5EF4-FFF2-40B4-BE49-F238E27FC236}">
                <a16:creationId xmlns:a16="http://schemas.microsoft.com/office/drawing/2014/main" id="{88897164-485A-B095-C190-508DA9FDDBA6}"/>
              </a:ext>
            </a:extLst>
          </p:cNvPr>
          <p:cNvSpPr/>
          <p:nvPr/>
        </p:nvSpPr>
        <p:spPr>
          <a:xfrm>
            <a:off x="5800597" y="430287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0" name="箭头: 右 149">
            <a:extLst>
              <a:ext uri="{FF2B5EF4-FFF2-40B4-BE49-F238E27FC236}">
                <a16:creationId xmlns:a16="http://schemas.microsoft.com/office/drawing/2014/main" id="{E3EC9678-1478-A47D-9E03-EC47DD6CB96D}"/>
              </a:ext>
            </a:extLst>
          </p:cNvPr>
          <p:cNvSpPr/>
          <p:nvPr/>
        </p:nvSpPr>
        <p:spPr>
          <a:xfrm>
            <a:off x="7388085" y="4302877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47D2F38A-A335-C81D-22BB-E4C0BCEAA899}"/>
              </a:ext>
            </a:extLst>
          </p:cNvPr>
          <p:cNvSpPr/>
          <p:nvPr/>
        </p:nvSpPr>
        <p:spPr>
          <a:xfrm>
            <a:off x="4356931" y="1883041"/>
            <a:ext cx="4738813" cy="9658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A750C05B-CFCE-5DC2-5609-29CAB4AB1917}"/>
              </a:ext>
            </a:extLst>
          </p:cNvPr>
          <p:cNvSpPr/>
          <p:nvPr/>
        </p:nvSpPr>
        <p:spPr>
          <a:xfrm>
            <a:off x="4466710" y="1956937"/>
            <a:ext cx="1368000" cy="7764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搭接剪切</a:t>
            </a: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B797C45B-EFCA-5166-BB72-44FB34D3618C}"/>
              </a:ext>
            </a:extLst>
          </p:cNvPr>
          <p:cNvSpPr/>
          <p:nvPr/>
        </p:nvSpPr>
        <p:spPr>
          <a:xfrm>
            <a:off x="6045495" y="1950598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黏弹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损伤</a:t>
            </a: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界面模型</a:t>
            </a: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AD26D223-8844-3E4C-2645-23147D5D4D2E}"/>
              </a:ext>
            </a:extLst>
          </p:cNvPr>
          <p:cNvSpPr/>
          <p:nvPr/>
        </p:nvSpPr>
        <p:spPr>
          <a:xfrm>
            <a:off x="7605959" y="1950598"/>
            <a:ext cx="1368000" cy="7814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粘接强度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速率机制</a:t>
            </a:r>
          </a:p>
        </p:txBody>
      </p:sp>
      <p:sp>
        <p:nvSpPr>
          <p:cNvPr id="160" name="箭头: 右 159">
            <a:extLst>
              <a:ext uri="{FF2B5EF4-FFF2-40B4-BE49-F238E27FC236}">
                <a16:creationId xmlns:a16="http://schemas.microsoft.com/office/drawing/2014/main" id="{86F0FFB2-8529-2FAA-13D6-2984D1CECA8B}"/>
              </a:ext>
            </a:extLst>
          </p:cNvPr>
          <p:cNvSpPr/>
          <p:nvPr/>
        </p:nvSpPr>
        <p:spPr>
          <a:xfrm>
            <a:off x="5800597" y="2179585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2" name="箭头: 右 161">
            <a:extLst>
              <a:ext uri="{FF2B5EF4-FFF2-40B4-BE49-F238E27FC236}">
                <a16:creationId xmlns:a16="http://schemas.microsoft.com/office/drawing/2014/main" id="{96167F47-EF2F-7350-F1AF-797C24C02B63}"/>
              </a:ext>
            </a:extLst>
          </p:cNvPr>
          <p:cNvSpPr/>
          <p:nvPr/>
        </p:nvSpPr>
        <p:spPr>
          <a:xfrm>
            <a:off x="7388085" y="2179585"/>
            <a:ext cx="328802" cy="32348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8518DFD7-EBEB-C6DA-3E34-EF3CBFE60620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AACA9158-687B-7956-85FB-D9E92C9AE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2BA3FE88-28E4-9C3E-3D6E-FE9F3F7DB779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96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6997-2967-7777-086B-B9035BEB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506F221F-5BC7-1178-D241-A093E94D0487}"/>
              </a:ext>
            </a:extLst>
          </p:cNvPr>
          <p:cNvGrpSpPr/>
          <p:nvPr/>
        </p:nvGrpSpPr>
        <p:grpSpPr>
          <a:xfrm flipH="1">
            <a:off x="-2904" y="148668"/>
            <a:ext cx="12191994" cy="6749144"/>
            <a:chOff x="0" y="-1"/>
            <a:chExt cx="10512854" cy="1008062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26C6039-640E-6C66-C1C5-E7177AC169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116"/>
            <a:stretch/>
          </p:blipFill>
          <p:spPr>
            <a:xfrm>
              <a:off x="0" y="-1"/>
              <a:ext cx="10011404" cy="10080316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C82874B-A851-252A-C6CF-E7F4A3EB63D4}"/>
                </a:ext>
              </a:extLst>
            </p:cNvPr>
            <p:cNvSpPr/>
            <p:nvPr/>
          </p:nvSpPr>
          <p:spPr>
            <a:xfrm rot="5400000">
              <a:off x="216115" y="-216114"/>
              <a:ext cx="10080626" cy="10512853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</p:grp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447DA6CD-D44F-4D8B-AA9C-F4A8D150A0A0}"/>
              </a:ext>
            </a:extLst>
          </p:cNvPr>
          <p:cNvSpPr/>
          <p:nvPr/>
        </p:nvSpPr>
        <p:spPr>
          <a:xfrm>
            <a:off x="-1" y="-396939"/>
            <a:ext cx="12191995" cy="2743200"/>
          </a:xfrm>
          <a:prstGeom prst="round2DiagRect">
            <a:avLst>
              <a:gd name="adj1" fmla="val 24331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F87ADEBB-7BE8-4EC9-EF3F-2BEBC5761670}"/>
              </a:ext>
            </a:extLst>
          </p:cNvPr>
          <p:cNvSpPr/>
          <p:nvPr/>
        </p:nvSpPr>
        <p:spPr>
          <a:xfrm>
            <a:off x="-1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矩形: 对角圆角 18">
            <a:extLst>
              <a:ext uri="{FF2B5EF4-FFF2-40B4-BE49-F238E27FC236}">
                <a16:creationId xmlns:a16="http://schemas.microsoft.com/office/drawing/2014/main" id="{34667B10-D7EC-22F6-1724-D4362034A445}"/>
              </a:ext>
            </a:extLst>
          </p:cNvPr>
          <p:cNvSpPr/>
          <p:nvPr/>
        </p:nvSpPr>
        <p:spPr>
          <a:xfrm>
            <a:off x="0" y="-740912"/>
            <a:ext cx="12191995" cy="2976123"/>
          </a:xfrm>
          <a:prstGeom prst="round2DiagRect">
            <a:avLst>
              <a:gd name="adj1" fmla="val 24331"/>
              <a:gd name="adj2" fmla="val 0"/>
            </a:avLst>
          </a:prstGeom>
          <a:gradFill>
            <a:gsLst>
              <a:gs pos="0">
                <a:srgbClr val="003399">
                  <a:alpha val="80000"/>
                </a:srgbClr>
              </a:gs>
              <a:gs pos="100000">
                <a:srgbClr val="00339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A04E06B1-DF86-C757-690F-6EF63847EEF9}"/>
              </a:ext>
            </a:extLst>
          </p:cNvPr>
          <p:cNvSpPr/>
          <p:nvPr/>
        </p:nvSpPr>
        <p:spPr>
          <a:xfrm>
            <a:off x="588524" y="272609"/>
            <a:ext cx="11009138" cy="5710524"/>
          </a:xfrm>
          <a:prstGeom prst="round2SameRect">
            <a:avLst>
              <a:gd name="adj1" fmla="val 3349"/>
              <a:gd name="adj2" fmla="val 0"/>
            </a:avLst>
          </a:prstGeom>
          <a:solidFill>
            <a:sysClr val="window" lastClr="FFFFFF"/>
          </a:solidFill>
          <a:ln w="9525" cap="flat" cmpd="sng" algn="ctr">
            <a:noFill/>
            <a:prstDash val="solid"/>
            <a:miter lim="800000"/>
          </a:ln>
          <a:effectLst>
            <a:outerShdw blurRad="444500" dist="215900" dir="8100000" algn="tr" rotWithShape="0">
              <a:schemeClr val="tx1">
                <a:alpha val="1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kern="0" dirty="0">
              <a:solidFill>
                <a:prstClr val="white"/>
              </a:solidFill>
              <a:latin typeface="Roboto Bold"/>
              <a:ea typeface="思源黑体 CN Bold"/>
            </a:endParaRPr>
          </a:p>
        </p:txBody>
      </p:sp>
      <p:pic>
        <p:nvPicPr>
          <p:cNvPr id="23" name="图片 22" descr="图标&#10;&#10;描述已自动生成">
            <a:extLst>
              <a:ext uri="{FF2B5EF4-FFF2-40B4-BE49-F238E27FC236}">
                <a16:creationId xmlns:a16="http://schemas.microsoft.com/office/drawing/2014/main" id="{5F3A03E1-5465-20A3-5FD2-CCDA27AA909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35" b="5905"/>
          <a:stretch/>
        </p:blipFill>
        <p:spPr>
          <a:xfrm rot="16200000" flipH="1" flipV="1">
            <a:off x="597811" y="4683950"/>
            <a:ext cx="1227829" cy="1260366"/>
          </a:xfrm>
          <a:prstGeom prst="rect">
            <a:avLst/>
          </a:prstGeom>
        </p:spPr>
      </p:pic>
      <p:sp>
        <p:nvSpPr>
          <p:cNvPr id="86" name="平行四边形 85">
            <a:extLst>
              <a:ext uri="{FF2B5EF4-FFF2-40B4-BE49-F238E27FC236}">
                <a16:creationId xmlns:a16="http://schemas.microsoft.com/office/drawing/2014/main" id="{3BA31EE7-72EF-B9C0-A71A-665CAEBA090C}"/>
              </a:ext>
            </a:extLst>
          </p:cNvPr>
          <p:cNvSpPr/>
          <p:nvPr/>
        </p:nvSpPr>
        <p:spPr>
          <a:xfrm>
            <a:off x="709773" y="1454079"/>
            <a:ext cx="917197" cy="178436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7" name="平行四边形 86">
            <a:extLst>
              <a:ext uri="{FF2B5EF4-FFF2-40B4-BE49-F238E27FC236}">
                <a16:creationId xmlns:a16="http://schemas.microsoft.com/office/drawing/2014/main" id="{DB957BF2-95D2-2F32-0EBD-3210F183A7D9}"/>
              </a:ext>
            </a:extLst>
          </p:cNvPr>
          <p:cNvSpPr/>
          <p:nvPr/>
        </p:nvSpPr>
        <p:spPr>
          <a:xfrm>
            <a:off x="538890" y="1901429"/>
            <a:ext cx="584776" cy="1137656"/>
          </a:xfrm>
          <a:prstGeom prst="parallelogram">
            <a:avLst>
              <a:gd name="adj" fmla="val 43802"/>
            </a:avLst>
          </a:prstGeom>
          <a:gradFill>
            <a:gsLst>
              <a:gs pos="73000">
                <a:srgbClr val="079BDF">
                  <a:alpha val="0"/>
                </a:srgbClr>
              </a:gs>
              <a:gs pos="0">
                <a:srgbClr val="079BDF">
                  <a:alpha val="1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B5FE1C5B-BCBA-AF32-1076-79A693600356}"/>
              </a:ext>
            </a:extLst>
          </p:cNvPr>
          <p:cNvCxnSpPr>
            <a:cxnSpLocks/>
          </p:cNvCxnSpPr>
          <p:nvPr/>
        </p:nvCxnSpPr>
        <p:spPr>
          <a:xfrm>
            <a:off x="2172590" y="2028132"/>
            <a:ext cx="0" cy="2629348"/>
          </a:xfrm>
          <a:prstGeom prst="line">
            <a:avLst/>
          </a:prstGeom>
          <a:ln>
            <a:gradFill>
              <a:gsLst>
                <a:gs pos="0">
                  <a:srgbClr val="076EBD">
                    <a:alpha val="0"/>
                  </a:srgbClr>
                </a:gs>
                <a:gs pos="50000">
                  <a:srgbClr val="076EBD">
                    <a:alpha val="25000"/>
                  </a:srgbClr>
                </a:gs>
                <a:gs pos="100000">
                  <a:srgbClr val="076EBD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0820F07-EF4A-DBEA-2D6E-7CFEA055D4CB}"/>
              </a:ext>
            </a:extLst>
          </p:cNvPr>
          <p:cNvGrpSpPr/>
          <p:nvPr/>
        </p:nvGrpSpPr>
        <p:grpSpPr>
          <a:xfrm>
            <a:off x="2352392" y="1374630"/>
            <a:ext cx="9685946" cy="598541"/>
            <a:chOff x="2404454" y="812409"/>
            <a:chExt cx="9685946" cy="598541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4397D12-869C-486F-428D-356CCD0B9E68}"/>
                </a:ext>
              </a:extLst>
            </p:cNvPr>
            <p:cNvSpPr/>
            <p:nvPr/>
          </p:nvSpPr>
          <p:spPr>
            <a:xfrm>
              <a:off x="2816432" y="812409"/>
              <a:ext cx="9273968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003399">
                      <a:alpha val="52000"/>
                    </a:srgbClr>
                  </a:gs>
                  <a:gs pos="89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5544E45-F9F6-2E2B-4791-DF6ED7E50366}"/>
                </a:ext>
              </a:extLst>
            </p:cNvPr>
            <p:cNvSpPr/>
            <p:nvPr/>
          </p:nvSpPr>
          <p:spPr>
            <a:xfrm>
              <a:off x="2404454" y="820860"/>
              <a:ext cx="590090" cy="590090"/>
            </a:xfrm>
            <a:prstGeom prst="ellipse">
              <a:avLst/>
            </a:prstGeom>
            <a:solidFill>
              <a:srgbClr val="003399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" name="文本框 49">
              <a:extLst>
                <a:ext uri="{FF2B5EF4-FFF2-40B4-BE49-F238E27FC236}">
                  <a16:creationId xmlns:a16="http://schemas.microsoft.com/office/drawing/2014/main" id="{AC8ACD10-7528-08CE-F444-763DF2ADEB6F}"/>
                </a:ext>
              </a:extLst>
            </p:cNvPr>
            <p:cNvSpPr txBox="1"/>
            <p:nvPr/>
          </p:nvSpPr>
          <p:spPr>
            <a:xfrm>
              <a:off x="2990271" y="845844"/>
              <a:ext cx="86341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00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非共价粘接水凝胶搭接剪切失效的速率相关行为</a:t>
              </a:r>
            </a:p>
          </p:txBody>
        </p:sp>
        <p:sp>
          <p:nvSpPr>
            <p:cNvPr id="5" name="文本框 48">
              <a:extLst>
                <a:ext uri="{FF2B5EF4-FFF2-40B4-BE49-F238E27FC236}">
                  <a16:creationId xmlns:a16="http://schemas.microsoft.com/office/drawing/2014/main" id="{C6FEBEBA-0885-0F69-AE99-4E2C8CFCE80E}"/>
                </a:ext>
              </a:extLst>
            </p:cNvPr>
            <p:cNvSpPr txBox="1"/>
            <p:nvPr/>
          </p:nvSpPr>
          <p:spPr>
            <a:xfrm>
              <a:off x="2455255" y="915850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33B3E3C-3908-4B57-6FCC-D320C40C9F11}"/>
              </a:ext>
            </a:extLst>
          </p:cNvPr>
          <p:cNvCxnSpPr>
            <a:cxnSpLocks/>
          </p:cNvCxnSpPr>
          <p:nvPr/>
        </p:nvCxnSpPr>
        <p:spPr>
          <a:xfrm>
            <a:off x="595503" y="5983133"/>
            <a:ext cx="10995180" cy="0"/>
          </a:xfrm>
          <a:prstGeom prst="line">
            <a:avLst/>
          </a:prstGeom>
          <a:ln w="34925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8F751EE-C561-C9D2-5D1A-8EBE7F04F223}"/>
              </a:ext>
            </a:extLst>
          </p:cNvPr>
          <p:cNvGrpSpPr/>
          <p:nvPr/>
        </p:nvGrpSpPr>
        <p:grpSpPr>
          <a:xfrm>
            <a:off x="2352392" y="419751"/>
            <a:ext cx="8982600" cy="590090"/>
            <a:chOff x="5132117" y="2282846"/>
            <a:chExt cx="8982600" cy="59009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FCC5DBBE-9039-951E-75D3-D64773531CD8}"/>
                </a:ext>
              </a:extLst>
            </p:cNvPr>
            <p:cNvSpPr/>
            <p:nvPr/>
          </p:nvSpPr>
          <p:spPr>
            <a:xfrm>
              <a:off x="5518606" y="2282846"/>
              <a:ext cx="8596111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292B6B5-CA00-9535-20D4-F71BECF9FD11}"/>
                </a:ext>
              </a:extLst>
            </p:cNvPr>
            <p:cNvSpPr/>
            <p:nvPr/>
          </p:nvSpPr>
          <p:spPr>
            <a:xfrm>
              <a:off x="5132117" y="2282846"/>
              <a:ext cx="590090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文本框 49">
              <a:extLst>
                <a:ext uri="{FF2B5EF4-FFF2-40B4-BE49-F238E27FC236}">
                  <a16:creationId xmlns:a16="http://schemas.microsoft.com/office/drawing/2014/main" id="{3A3E733D-F18C-DBA5-D401-7910B870B3BA}"/>
                </a:ext>
              </a:extLst>
            </p:cNvPr>
            <p:cNvSpPr txBox="1"/>
            <p:nvPr/>
          </p:nvSpPr>
          <p:spPr>
            <a:xfrm>
              <a:off x="5717934" y="2322863"/>
              <a:ext cx="83760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</a:p>
          </p:txBody>
        </p:sp>
        <p:sp>
          <p:nvSpPr>
            <p:cNvPr id="53" name="文本框 48">
              <a:extLst>
                <a:ext uri="{FF2B5EF4-FFF2-40B4-BE49-F238E27FC236}">
                  <a16:creationId xmlns:a16="http://schemas.microsoft.com/office/drawing/2014/main" id="{A793D911-4651-0349-2FEE-ACAC8D150130}"/>
                </a:ext>
              </a:extLst>
            </p:cNvPr>
            <p:cNvSpPr txBox="1"/>
            <p:nvPr/>
          </p:nvSpPr>
          <p:spPr>
            <a:xfrm>
              <a:off x="5182918" y="2377836"/>
              <a:ext cx="4884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6C89591-8C90-96C8-C5ED-D747CD26358C}"/>
              </a:ext>
            </a:extLst>
          </p:cNvPr>
          <p:cNvGrpSpPr/>
          <p:nvPr/>
        </p:nvGrpSpPr>
        <p:grpSpPr>
          <a:xfrm>
            <a:off x="2352392" y="2339906"/>
            <a:ext cx="9546163" cy="590090"/>
            <a:chOff x="-1171420" y="1903627"/>
            <a:chExt cx="9546163" cy="59009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7C0F368E-3471-EE26-841D-C51F5A7A0B33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D4646B46-C7CB-5D85-4E01-61F54DC4D0A5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文本框 49">
              <a:extLst>
                <a:ext uri="{FF2B5EF4-FFF2-40B4-BE49-F238E27FC236}">
                  <a16:creationId xmlns:a16="http://schemas.microsoft.com/office/drawing/2014/main" id="{8CE47DE0-8B9D-2579-ED18-295930C7DD49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水凝胶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</a:t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刚性基底非共价粘接剪切脱粘的速率相关行为</a:t>
              </a:r>
            </a:p>
          </p:txBody>
        </p:sp>
        <p:sp>
          <p:nvSpPr>
            <p:cNvPr id="58" name="文本框 48">
              <a:extLst>
                <a:ext uri="{FF2B5EF4-FFF2-40B4-BE49-F238E27FC236}">
                  <a16:creationId xmlns:a16="http://schemas.microsoft.com/office/drawing/2014/main" id="{1589DA50-7B09-C353-FBF6-5FD4428017D0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91451F99-5BBB-A602-C1FA-D75D247DB433}"/>
              </a:ext>
            </a:extLst>
          </p:cNvPr>
          <p:cNvGrpSpPr/>
          <p:nvPr/>
        </p:nvGrpSpPr>
        <p:grpSpPr>
          <a:xfrm>
            <a:off x="2353128" y="3301831"/>
            <a:ext cx="9546163" cy="590090"/>
            <a:chOff x="-1171420" y="1903627"/>
            <a:chExt cx="9546163" cy="590090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E00A16C0-6120-B967-D03B-4C983B88380D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55D58926-0C4C-B0AC-6AEA-578A996C4ADC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文本框 49">
              <a:extLst>
                <a:ext uri="{FF2B5EF4-FFF2-40B4-BE49-F238E27FC236}">
                  <a16:creationId xmlns:a16="http://schemas.microsoft.com/office/drawing/2014/main" id="{35A74348-EC7A-728C-659D-C396AC063C99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非共价粘接水凝胶</a:t>
              </a:r>
              <a:r>
                <a:rPr lang="en-US" altLang="zh-CN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180°</a:t>
              </a:r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剥离失效的速率相关行为</a:t>
              </a:r>
            </a:p>
          </p:txBody>
        </p:sp>
        <p:sp>
          <p:nvSpPr>
            <p:cNvPr id="64" name="文本框 48">
              <a:extLst>
                <a:ext uri="{FF2B5EF4-FFF2-40B4-BE49-F238E27FC236}">
                  <a16:creationId xmlns:a16="http://schemas.microsoft.com/office/drawing/2014/main" id="{18539967-4924-34F1-DDAC-B2F6FF99060E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EC12A2E8-5703-FBE3-8AAE-8F28AF41D610}"/>
              </a:ext>
            </a:extLst>
          </p:cNvPr>
          <p:cNvGrpSpPr/>
          <p:nvPr/>
        </p:nvGrpSpPr>
        <p:grpSpPr>
          <a:xfrm>
            <a:off x="2367329" y="4262007"/>
            <a:ext cx="9546163" cy="590090"/>
            <a:chOff x="-1171420" y="1903627"/>
            <a:chExt cx="9546163" cy="590090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86649520-5891-2B07-4894-8D93E2F24DDB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0E7A8FEC-BF5F-2188-CD67-9680F6A6B3B8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文本框 49">
              <a:extLst>
                <a:ext uri="{FF2B5EF4-FFF2-40B4-BE49-F238E27FC236}">
                  <a16:creationId xmlns:a16="http://schemas.microsoft.com/office/drawing/2014/main" id="{70352A04-7A9B-8B63-1EEF-61CE86C12FD4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水凝胶柔软可拉伸粘接方法及其失效的速率无关行为</a:t>
              </a:r>
            </a:p>
          </p:txBody>
        </p:sp>
        <p:sp>
          <p:nvSpPr>
            <p:cNvPr id="69" name="文本框 48">
              <a:extLst>
                <a:ext uri="{FF2B5EF4-FFF2-40B4-BE49-F238E27FC236}">
                  <a16:creationId xmlns:a16="http://schemas.microsoft.com/office/drawing/2014/main" id="{3612D3D8-A066-47CC-749B-99E78F39A4A7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B8A6E39-3EC5-4F41-ABED-A762D1F67FB4}"/>
              </a:ext>
            </a:extLst>
          </p:cNvPr>
          <p:cNvGrpSpPr/>
          <p:nvPr/>
        </p:nvGrpSpPr>
        <p:grpSpPr>
          <a:xfrm>
            <a:off x="2367329" y="5206225"/>
            <a:ext cx="9546163" cy="590090"/>
            <a:chOff x="-1171420" y="1903627"/>
            <a:chExt cx="9546163" cy="590090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685B9D1D-AE24-397D-F5F2-B9A8BBDED704}"/>
                </a:ext>
              </a:extLst>
            </p:cNvPr>
            <p:cNvSpPr/>
            <p:nvPr/>
          </p:nvSpPr>
          <p:spPr>
            <a:xfrm>
              <a:off x="-781006" y="1903627"/>
              <a:ext cx="9155749" cy="59009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90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 cap="flat" cmpd="sng" algn="ctr">
              <a:gradFill flip="none" rotWithShape="1">
                <a:gsLst>
                  <a:gs pos="0">
                    <a:srgbClr val="D0D0DE"/>
                  </a:gs>
                  <a:gs pos="89000">
                    <a:srgbClr val="D0D0DE">
                      <a:alpha val="0"/>
                    </a:srgbClr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444500" dist="215900" dir="8100000" algn="tr" rotWithShape="0">
                <a:srgbClr val="02577C">
                  <a:alpha val="10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kern="0" dirty="0">
                <a:solidFill>
                  <a:prstClr val="white"/>
                </a:solidFill>
                <a:latin typeface="Roboto Bold"/>
                <a:ea typeface="思源黑体 CN Bold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E35CBAAD-A12E-4461-A2C8-84130E02982D}"/>
                </a:ext>
              </a:extLst>
            </p:cNvPr>
            <p:cNvSpPr/>
            <p:nvPr/>
          </p:nvSpPr>
          <p:spPr>
            <a:xfrm>
              <a:off x="-1171420" y="1903627"/>
              <a:ext cx="596082" cy="590090"/>
            </a:xfrm>
            <a:prstGeom prst="ellipse">
              <a:avLst/>
            </a:prstGeom>
            <a:solidFill>
              <a:srgbClr val="D0D0DE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4" name="文本框 49">
              <a:extLst>
                <a:ext uri="{FF2B5EF4-FFF2-40B4-BE49-F238E27FC236}">
                  <a16:creationId xmlns:a16="http://schemas.microsoft.com/office/drawing/2014/main" id="{91152A1C-6B97-91BE-0E61-EA3E2B63A1DA}"/>
                </a:ext>
              </a:extLst>
            </p:cNvPr>
            <p:cNvSpPr txBox="1"/>
            <p:nvPr/>
          </p:nvSpPr>
          <p:spPr>
            <a:xfrm>
              <a:off x="-579654" y="1943644"/>
              <a:ext cx="8868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D0D0D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</p:txBody>
        </p:sp>
        <p:sp>
          <p:nvSpPr>
            <p:cNvPr id="75" name="文本框 48">
              <a:extLst>
                <a:ext uri="{FF2B5EF4-FFF2-40B4-BE49-F238E27FC236}">
                  <a16:creationId xmlns:a16="http://schemas.microsoft.com/office/drawing/2014/main" id="{8DBC304F-D82B-ED3F-ED2F-34763F51CB32}"/>
                </a:ext>
              </a:extLst>
            </p:cNvPr>
            <p:cNvSpPr txBox="1"/>
            <p:nvPr/>
          </p:nvSpPr>
          <p:spPr>
            <a:xfrm>
              <a:off x="-1120104" y="1998617"/>
              <a:ext cx="493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67F42A2-541D-232A-FF6A-1DC0D9C08849}"/>
              </a:ext>
            </a:extLst>
          </p:cNvPr>
          <p:cNvCxnSpPr>
            <a:cxnSpLocks/>
          </p:cNvCxnSpPr>
          <p:nvPr/>
        </p:nvCxnSpPr>
        <p:spPr>
          <a:xfrm>
            <a:off x="3760787" y="100984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101E16B-041E-AECE-635E-6F440B6818D6}"/>
              </a:ext>
            </a:extLst>
          </p:cNvPr>
          <p:cNvCxnSpPr>
            <a:cxnSpLocks/>
          </p:cNvCxnSpPr>
          <p:nvPr/>
        </p:nvCxnSpPr>
        <p:spPr>
          <a:xfrm>
            <a:off x="3779837" y="1965658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67C13C3-58C8-95BF-04A2-81F40C85A9CD}"/>
              </a:ext>
            </a:extLst>
          </p:cNvPr>
          <p:cNvCxnSpPr>
            <a:cxnSpLocks/>
          </p:cNvCxnSpPr>
          <p:nvPr/>
        </p:nvCxnSpPr>
        <p:spPr>
          <a:xfrm>
            <a:off x="3767136" y="2929996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44B035B-EAA2-91F8-854F-8CD7BAF2923E}"/>
              </a:ext>
            </a:extLst>
          </p:cNvPr>
          <p:cNvCxnSpPr>
            <a:cxnSpLocks/>
          </p:cNvCxnSpPr>
          <p:nvPr/>
        </p:nvCxnSpPr>
        <p:spPr>
          <a:xfrm>
            <a:off x="3744911" y="3891921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7AF0D88-AA1D-F928-4D27-C1A4FB607F6B}"/>
              </a:ext>
            </a:extLst>
          </p:cNvPr>
          <p:cNvCxnSpPr>
            <a:cxnSpLocks/>
          </p:cNvCxnSpPr>
          <p:nvPr/>
        </p:nvCxnSpPr>
        <p:spPr>
          <a:xfrm>
            <a:off x="3744911" y="4852097"/>
            <a:ext cx="0" cy="3657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" name="文本框 49">
            <a:extLst>
              <a:ext uri="{FF2B5EF4-FFF2-40B4-BE49-F238E27FC236}">
                <a16:creationId xmlns:a16="http://schemas.microsoft.com/office/drawing/2014/main" id="{57CD672D-80E6-DE63-FDB8-61A8985660C5}"/>
              </a:ext>
            </a:extLst>
          </p:cNvPr>
          <p:cNvSpPr txBox="1"/>
          <p:nvPr/>
        </p:nvSpPr>
        <p:spPr>
          <a:xfrm>
            <a:off x="1060284" y="2222822"/>
            <a:ext cx="7626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2FA4307E-FB63-C707-4B52-ECECDA2FD5EE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4">
            <a:extLst>
              <a:ext uri="{FF2B5EF4-FFF2-40B4-BE49-F238E27FC236}">
                <a16:creationId xmlns:a16="http://schemas.microsoft.com/office/drawing/2014/main" id="{37A2332A-330B-C0EB-2DA2-141CFE67D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平行四边形 28">
            <a:extLst>
              <a:ext uri="{FF2B5EF4-FFF2-40B4-BE49-F238E27FC236}">
                <a16:creationId xmlns:a16="http://schemas.microsoft.com/office/drawing/2014/main" id="{C9348719-98CD-713B-F0EF-D2F5741F05DC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24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0659-5648-C172-5572-1A4E8BFD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22C20C04-F514-8827-5C0F-109DF6445A3C}"/>
              </a:ext>
            </a:extLst>
          </p:cNvPr>
          <p:cNvSpPr/>
          <p:nvPr/>
        </p:nvSpPr>
        <p:spPr>
          <a:xfrm>
            <a:off x="5449272" y="2220532"/>
            <a:ext cx="6346209" cy="3481472"/>
          </a:xfrm>
          <a:prstGeom prst="roundRect">
            <a:avLst>
              <a:gd name="adj" fmla="val 2330"/>
            </a:avLst>
          </a:prstGeom>
          <a:noFill/>
          <a:ln w="9525" cap="flat" cmpd="sng" algn="ctr">
            <a:solidFill>
              <a:srgbClr val="003399">
                <a:alpha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F0D21577-C94E-CA77-4802-A50A17E9789C}"/>
              </a:ext>
            </a:extLst>
          </p:cNvPr>
          <p:cNvSpPr/>
          <p:nvPr/>
        </p:nvSpPr>
        <p:spPr>
          <a:xfrm>
            <a:off x="334963" y="937927"/>
            <a:ext cx="11522075" cy="898021"/>
          </a:xfrm>
          <a:prstGeom prst="round2SameRect">
            <a:avLst>
              <a:gd name="adj1" fmla="val 0"/>
              <a:gd name="adj2" fmla="val 16800"/>
            </a:avLst>
          </a:prstGeom>
          <a:gradFill>
            <a:gsLst>
              <a:gs pos="0">
                <a:srgbClr val="E5F0FF"/>
              </a:gs>
              <a:gs pos="50000">
                <a:schemeClr val="bg1"/>
              </a:gs>
              <a:gs pos="100000">
                <a:srgbClr val="E5F0FF"/>
              </a:gs>
            </a:gsLst>
            <a:lin ang="5400000" scaled="1"/>
          </a:gradFill>
          <a:ln w="9525" cap="flat" cmpd="sng" algn="ctr">
            <a:solidFill>
              <a:schemeClr val="bg2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3DE7B0-11D2-9CBB-C957-9E8354E14E2F}"/>
              </a:ext>
            </a:extLst>
          </p:cNvPr>
          <p:cNvSpPr txBox="1"/>
          <p:nvPr/>
        </p:nvSpPr>
        <p:spPr>
          <a:xfrm>
            <a:off x="347443" y="1004951"/>
            <a:ext cx="11239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通过应力松弛和搭接剪切实验，区分聚丙烯酸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(PAA)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水凝胶本体响应与非共价粘接界面响应，确认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速率相关性主要来自界面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49B8D75-BB55-6BF0-84DE-EE1E34FD5B63}"/>
              </a:ext>
            </a:extLst>
          </p:cNvPr>
          <p:cNvSpPr/>
          <p:nvPr/>
        </p:nvSpPr>
        <p:spPr>
          <a:xfrm flipH="1" flipV="1">
            <a:off x="7115781" y="2011077"/>
            <a:ext cx="3248484" cy="419808"/>
          </a:xfrm>
          <a:custGeom>
            <a:avLst/>
            <a:gdLst>
              <a:gd name="connsiteX0" fmla="*/ 2240899 w 2337266"/>
              <a:gd name="connsiteY0" fmla="*/ 419808 h 419808"/>
              <a:gd name="connsiteX1" fmla="*/ 1412224 w 2337266"/>
              <a:gd name="connsiteY1" fmla="*/ 419808 h 419808"/>
              <a:gd name="connsiteX2" fmla="*/ 1280146 w 2337266"/>
              <a:gd name="connsiteY2" fmla="*/ 419808 h 419808"/>
              <a:gd name="connsiteX3" fmla="*/ 1057120 w 2337266"/>
              <a:gd name="connsiteY3" fmla="*/ 419808 h 419808"/>
              <a:gd name="connsiteX4" fmla="*/ 867788 w 2337266"/>
              <a:gd name="connsiteY4" fmla="*/ 419808 h 419808"/>
              <a:gd name="connsiteX5" fmla="*/ 39113 w 2337266"/>
              <a:gd name="connsiteY5" fmla="*/ 419808 h 419808"/>
              <a:gd name="connsiteX6" fmla="*/ 1186 w 2337266"/>
              <a:gd name="connsiteY6" fmla="*/ 353427 h 419808"/>
              <a:gd name="connsiteX7" fmla="*/ 58440 w 2337266"/>
              <a:gd name="connsiteY7" fmla="*/ 40467 h 419808"/>
              <a:gd name="connsiteX8" fmla="*/ 96367 w 2337266"/>
              <a:gd name="connsiteY8" fmla="*/ 0 h 419808"/>
              <a:gd name="connsiteX9" fmla="*/ 925042 w 2337266"/>
              <a:gd name="connsiteY9" fmla="*/ 0 h 419808"/>
              <a:gd name="connsiteX10" fmla="*/ 1057120 w 2337266"/>
              <a:gd name="connsiteY10" fmla="*/ 0 h 419808"/>
              <a:gd name="connsiteX11" fmla="*/ 1280146 w 2337266"/>
              <a:gd name="connsiteY11" fmla="*/ 0 h 419808"/>
              <a:gd name="connsiteX12" fmla="*/ 1469478 w 2337266"/>
              <a:gd name="connsiteY12" fmla="*/ 0 h 419808"/>
              <a:gd name="connsiteX13" fmla="*/ 2298153 w 2337266"/>
              <a:gd name="connsiteY13" fmla="*/ 0 h 419808"/>
              <a:gd name="connsiteX14" fmla="*/ 2336080 w 2337266"/>
              <a:gd name="connsiteY14" fmla="*/ 66381 h 419808"/>
              <a:gd name="connsiteX15" fmla="*/ 2278826 w 2337266"/>
              <a:gd name="connsiteY15" fmla="*/ 379341 h 419808"/>
              <a:gd name="connsiteX16" fmla="*/ 2240899 w 2337266"/>
              <a:gd name="connsiteY16" fmla="*/ 419808 h 419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337266" h="419808">
                <a:moveTo>
                  <a:pt x="2240899" y="419808"/>
                </a:moveTo>
                <a:lnTo>
                  <a:pt x="1412224" y="419808"/>
                </a:lnTo>
                <a:lnTo>
                  <a:pt x="1280146" y="419808"/>
                </a:lnTo>
                <a:lnTo>
                  <a:pt x="1057120" y="419808"/>
                </a:lnTo>
                <a:lnTo>
                  <a:pt x="867788" y="419808"/>
                </a:lnTo>
                <a:lnTo>
                  <a:pt x="39113" y="419808"/>
                </a:lnTo>
                <a:cubicBezTo>
                  <a:pt x="13678" y="419808"/>
                  <a:pt x="-4983" y="387148"/>
                  <a:pt x="1186" y="353427"/>
                </a:cubicBezTo>
                <a:lnTo>
                  <a:pt x="58440" y="40467"/>
                </a:lnTo>
                <a:cubicBezTo>
                  <a:pt x="62794" y="16672"/>
                  <a:pt x="78420" y="0"/>
                  <a:pt x="96367" y="0"/>
                </a:cubicBezTo>
                <a:lnTo>
                  <a:pt x="925042" y="0"/>
                </a:lnTo>
                <a:lnTo>
                  <a:pt x="1057120" y="0"/>
                </a:lnTo>
                <a:lnTo>
                  <a:pt x="1280146" y="0"/>
                </a:lnTo>
                <a:lnTo>
                  <a:pt x="1469478" y="0"/>
                </a:lnTo>
                <a:lnTo>
                  <a:pt x="2298153" y="0"/>
                </a:lnTo>
                <a:cubicBezTo>
                  <a:pt x="2323588" y="0"/>
                  <a:pt x="2342249" y="32660"/>
                  <a:pt x="2336080" y="66381"/>
                </a:cubicBezTo>
                <a:lnTo>
                  <a:pt x="2278826" y="379341"/>
                </a:lnTo>
                <a:cubicBezTo>
                  <a:pt x="2274472" y="403136"/>
                  <a:pt x="2258846" y="419808"/>
                  <a:pt x="2240899" y="419808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>
            <a:outerShdw blurRad="203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A422861A-7DA6-71AD-41D2-AAC70C69C8AA}"/>
              </a:ext>
            </a:extLst>
          </p:cNvPr>
          <p:cNvSpPr txBox="1"/>
          <p:nvPr/>
        </p:nvSpPr>
        <p:spPr>
          <a:xfrm>
            <a:off x="6939617" y="2023811"/>
            <a:ext cx="36008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dist">
              <a:defRPr sz="6000" b="1">
                <a:solidFill>
                  <a:srgbClr val="0E6ABE"/>
                </a:solidFill>
                <a:latin typeface="汉仪雅酷黑 85W" panose="020B0904020202020204" pitchFamily="34" charset="-122"/>
                <a:ea typeface="汉仪雅酷黑 85W" panose="020B0904020202020204" pitchFamily="34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搭接剪切测试结果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5D54420-BA25-15F7-2378-DDED5A375526}"/>
              </a:ext>
            </a:extLst>
          </p:cNvPr>
          <p:cNvSpPr/>
          <p:nvPr/>
        </p:nvSpPr>
        <p:spPr>
          <a:xfrm>
            <a:off x="5753737" y="5205553"/>
            <a:ext cx="2910091" cy="288393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87EB3B-E9F5-4836-67C5-69E7B0269D0B}"/>
              </a:ext>
            </a:extLst>
          </p:cNvPr>
          <p:cNvSpPr txBox="1"/>
          <p:nvPr/>
        </p:nvSpPr>
        <p:spPr>
          <a:xfrm>
            <a:off x="5881749" y="5200410"/>
            <a:ext cx="277015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单层水凝胶</a:t>
            </a:r>
            <a:endParaRPr lang="zh-CN" altLang="en-US" dirty="0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CBE1FA7-6B23-D57D-6662-653CB9AD5C91}"/>
              </a:ext>
            </a:extLst>
          </p:cNvPr>
          <p:cNvSpPr/>
          <p:nvPr/>
        </p:nvSpPr>
        <p:spPr>
          <a:xfrm>
            <a:off x="1510514" y="5299601"/>
            <a:ext cx="2433444" cy="286842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0" name="矩形: 圆角 37">
            <a:extLst>
              <a:ext uri="{FF2B5EF4-FFF2-40B4-BE49-F238E27FC236}">
                <a16:creationId xmlns:a16="http://schemas.microsoft.com/office/drawing/2014/main" id="{B7AA387A-B390-8090-3A42-9E6060FEE7D6}"/>
              </a:ext>
            </a:extLst>
          </p:cNvPr>
          <p:cNvSpPr/>
          <p:nvPr/>
        </p:nvSpPr>
        <p:spPr>
          <a:xfrm>
            <a:off x="347442" y="2217961"/>
            <a:ext cx="4862995" cy="3484042"/>
          </a:xfrm>
          <a:prstGeom prst="roundRect">
            <a:avLst>
              <a:gd name="adj" fmla="val 2330"/>
            </a:avLst>
          </a:prstGeom>
          <a:noFill/>
          <a:ln w="9525" cap="flat" cmpd="sng" algn="ctr">
            <a:solidFill>
              <a:srgbClr val="003399">
                <a:alpha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任意多边形: 形状 76">
            <a:extLst>
              <a:ext uri="{FF2B5EF4-FFF2-40B4-BE49-F238E27FC236}">
                <a16:creationId xmlns:a16="http://schemas.microsoft.com/office/drawing/2014/main" id="{5A0C0DD8-B0E7-EFCD-35B0-DB2E15BC6C9F}"/>
              </a:ext>
            </a:extLst>
          </p:cNvPr>
          <p:cNvSpPr/>
          <p:nvPr/>
        </p:nvSpPr>
        <p:spPr>
          <a:xfrm flipH="1" flipV="1">
            <a:off x="864857" y="2017752"/>
            <a:ext cx="3596150" cy="419808"/>
          </a:xfrm>
          <a:custGeom>
            <a:avLst/>
            <a:gdLst>
              <a:gd name="connsiteX0" fmla="*/ 2240899 w 2337266"/>
              <a:gd name="connsiteY0" fmla="*/ 419808 h 419808"/>
              <a:gd name="connsiteX1" fmla="*/ 1412224 w 2337266"/>
              <a:gd name="connsiteY1" fmla="*/ 419808 h 419808"/>
              <a:gd name="connsiteX2" fmla="*/ 1280146 w 2337266"/>
              <a:gd name="connsiteY2" fmla="*/ 419808 h 419808"/>
              <a:gd name="connsiteX3" fmla="*/ 1057120 w 2337266"/>
              <a:gd name="connsiteY3" fmla="*/ 419808 h 419808"/>
              <a:gd name="connsiteX4" fmla="*/ 867788 w 2337266"/>
              <a:gd name="connsiteY4" fmla="*/ 419808 h 419808"/>
              <a:gd name="connsiteX5" fmla="*/ 39113 w 2337266"/>
              <a:gd name="connsiteY5" fmla="*/ 419808 h 419808"/>
              <a:gd name="connsiteX6" fmla="*/ 1186 w 2337266"/>
              <a:gd name="connsiteY6" fmla="*/ 353427 h 419808"/>
              <a:gd name="connsiteX7" fmla="*/ 58440 w 2337266"/>
              <a:gd name="connsiteY7" fmla="*/ 40467 h 419808"/>
              <a:gd name="connsiteX8" fmla="*/ 96367 w 2337266"/>
              <a:gd name="connsiteY8" fmla="*/ 0 h 419808"/>
              <a:gd name="connsiteX9" fmla="*/ 925042 w 2337266"/>
              <a:gd name="connsiteY9" fmla="*/ 0 h 419808"/>
              <a:gd name="connsiteX10" fmla="*/ 1057120 w 2337266"/>
              <a:gd name="connsiteY10" fmla="*/ 0 h 419808"/>
              <a:gd name="connsiteX11" fmla="*/ 1280146 w 2337266"/>
              <a:gd name="connsiteY11" fmla="*/ 0 h 419808"/>
              <a:gd name="connsiteX12" fmla="*/ 1469478 w 2337266"/>
              <a:gd name="connsiteY12" fmla="*/ 0 h 419808"/>
              <a:gd name="connsiteX13" fmla="*/ 2298153 w 2337266"/>
              <a:gd name="connsiteY13" fmla="*/ 0 h 419808"/>
              <a:gd name="connsiteX14" fmla="*/ 2336080 w 2337266"/>
              <a:gd name="connsiteY14" fmla="*/ 66381 h 419808"/>
              <a:gd name="connsiteX15" fmla="*/ 2278826 w 2337266"/>
              <a:gd name="connsiteY15" fmla="*/ 379341 h 419808"/>
              <a:gd name="connsiteX16" fmla="*/ 2240899 w 2337266"/>
              <a:gd name="connsiteY16" fmla="*/ 419808 h 419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337266" h="419808">
                <a:moveTo>
                  <a:pt x="2240899" y="419808"/>
                </a:moveTo>
                <a:lnTo>
                  <a:pt x="1412224" y="419808"/>
                </a:lnTo>
                <a:lnTo>
                  <a:pt x="1280146" y="419808"/>
                </a:lnTo>
                <a:lnTo>
                  <a:pt x="1057120" y="419808"/>
                </a:lnTo>
                <a:lnTo>
                  <a:pt x="867788" y="419808"/>
                </a:lnTo>
                <a:lnTo>
                  <a:pt x="39113" y="419808"/>
                </a:lnTo>
                <a:cubicBezTo>
                  <a:pt x="13678" y="419808"/>
                  <a:pt x="-4983" y="387148"/>
                  <a:pt x="1186" y="353427"/>
                </a:cubicBezTo>
                <a:lnTo>
                  <a:pt x="58440" y="40467"/>
                </a:lnTo>
                <a:cubicBezTo>
                  <a:pt x="62794" y="16672"/>
                  <a:pt x="78420" y="0"/>
                  <a:pt x="96367" y="0"/>
                </a:cubicBezTo>
                <a:lnTo>
                  <a:pt x="925042" y="0"/>
                </a:lnTo>
                <a:lnTo>
                  <a:pt x="1057120" y="0"/>
                </a:lnTo>
                <a:lnTo>
                  <a:pt x="1280146" y="0"/>
                </a:lnTo>
                <a:lnTo>
                  <a:pt x="1469478" y="0"/>
                </a:lnTo>
                <a:lnTo>
                  <a:pt x="2298153" y="0"/>
                </a:lnTo>
                <a:cubicBezTo>
                  <a:pt x="2323588" y="0"/>
                  <a:pt x="2342249" y="32660"/>
                  <a:pt x="2336080" y="66381"/>
                </a:cubicBezTo>
                <a:lnTo>
                  <a:pt x="2278826" y="379341"/>
                </a:lnTo>
                <a:cubicBezTo>
                  <a:pt x="2274472" y="403136"/>
                  <a:pt x="2258846" y="419808"/>
                  <a:pt x="2240899" y="419808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>
            <a:outerShdw blurRad="203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2D084E6-7861-B772-CCAD-C745389FEF50}"/>
              </a:ext>
            </a:extLst>
          </p:cNvPr>
          <p:cNvSpPr txBox="1"/>
          <p:nvPr/>
        </p:nvSpPr>
        <p:spPr>
          <a:xfrm>
            <a:off x="932803" y="2037429"/>
            <a:ext cx="3528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dist">
              <a:defRPr sz="6000" b="1">
                <a:solidFill>
                  <a:srgbClr val="0E6ABE"/>
                </a:solidFill>
                <a:latin typeface="汉仪雅酷黑 85W" panose="020B0904020202020204" pitchFamily="34" charset="-122"/>
                <a:ea typeface="汉仪雅酷黑 85W" panose="020B0904020202020204" pitchFamily="34" charset="-122"/>
              </a:defRPr>
            </a:lvl1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搭接剪切测试示意图及照片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9A9563F-9124-7547-7F33-1D96D5CAAFAB}"/>
              </a:ext>
            </a:extLst>
          </p:cNvPr>
          <p:cNvSpPr txBox="1"/>
          <p:nvPr/>
        </p:nvSpPr>
        <p:spPr>
          <a:xfrm>
            <a:off x="1624346" y="5284640"/>
            <a:ext cx="220578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dirty="0">
                <a:latin typeface="微软雅黑"/>
              </a:rPr>
              <a:t>实验构型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3F10AE-89EF-8167-6C15-38B4B7EE0956}"/>
              </a:ext>
            </a:extLst>
          </p:cNvPr>
          <p:cNvSpPr txBox="1"/>
          <p:nvPr/>
        </p:nvSpPr>
        <p:spPr>
          <a:xfrm>
            <a:off x="1099492" y="159162"/>
            <a:ext cx="1230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90CBB0-8BBA-7A14-B124-8796345AEDC9}"/>
              </a:ext>
            </a:extLst>
          </p:cNvPr>
          <p:cNvSpPr txBox="1"/>
          <p:nvPr/>
        </p:nvSpPr>
        <p:spPr>
          <a:xfrm>
            <a:off x="2183177" y="191561"/>
            <a:ext cx="6747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非共价粘接水凝胶搭接剪切失效的速率相关行为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3C039AA-F820-3703-687C-94CC6BA9BCA1}"/>
              </a:ext>
            </a:extLst>
          </p:cNvPr>
          <p:cNvCxnSpPr>
            <a:cxnSpLocks/>
          </p:cNvCxnSpPr>
          <p:nvPr/>
        </p:nvCxnSpPr>
        <p:spPr>
          <a:xfrm>
            <a:off x="2183177" y="268204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478E0CE-3D11-8A73-98B1-07DA36C0A44E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BECBBF-D39F-38A5-C17B-7D4CC45992B2}"/>
              </a:ext>
            </a:extLst>
          </p:cNvPr>
          <p:cNvSpPr txBox="1"/>
          <p:nvPr/>
        </p:nvSpPr>
        <p:spPr>
          <a:xfrm>
            <a:off x="2745343" y="5820529"/>
            <a:ext cx="709228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聚丙烯酸水凝胶的力学行为与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加载速率无关</a:t>
            </a:r>
            <a:endParaRPr kumimoji="1"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非共价粘接的双层聚丙烯酸水凝胶测得粘接强度与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加载速率相关</a:t>
            </a:r>
            <a:endParaRPr kumimoji="1"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B5368D-915B-9ECC-FA63-7A07D411461E}"/>
              </a:ext>
            </a:extLst>
          </p:cNvPr>
          <p:cNvSpPr/>
          <p:nvPr/>
        </p:nvSpPr>
        <p:spPr>
          <a:xfrm>
            <a:off x="8890743" y="5233655"/>
            <a:ext cx="2910091" cy="288393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2BE0B7-7A61-046A-0357-7073B7C1AB1E}"/>
              </a:ext>
            </a:extLst>
          </p:cNvPr>
          <p:cNvSpPr txBox="1"/>
          <p:nvPr/>
        </p:nvSpPr>
        <p:spPr>
          <a:xfrm>
            <a:off x="9086879" y="5198241"/>
            <a:ext cx="277015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双层水凝胶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3F065D-D74A-FEA5-F09A-7AC8E3209D72}"/>
              </a:ext>
            </a:extLst>
          </p:cNvPr>
          <p:cNvSpPr/>
          <p:nvPr/>
        </p:nvSpPr>
        <p:spPr>
          <a:xfrm>
            <a:off x="7336794" y="5351235"/>
            <a:ext cx="2910091" cy="288393"/>
          </a:xfrm>
          <a:prstGeom prst="rect">
            <a:avLst/>
          </a:prstGeom>
          <a:gradFill flip="none" rotWithShape="1">
            <a:gsLst>
              <a:gs pos="50000">
                <a:srgbClr val="003399">
                  <a:alpha val="16000"/>
                </a:srgbClr>
              </a:gs>
              <a:gs pos="0">
                <a:srgbClr val="003399">
                  <a:alpha val="0"/>
                </a:srgbClr>
              </a:gs>
              <a:gs pos="100000">
                <a:srgbClr val="00339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99FB22-ED63-CEA9-8AC5-855C0A51B906}"/>
              </a:ext>
            </a:extLst>
          </p:cNvPr>
          <p:cNvSpPr txBox="1"/>
          <p:nvPr/>
        </p:nvSpPr>
        <p:spPr>
          <a:xfrm>
            <a:off x="7532930" y="5315821"/>
            <a:ext cx="277015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松弛实验结果</a:t>
            </a:r>
            <a:endParaRPr lang="zh-CN" altLang="en-US" dirty="0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F54EA902-4EA0-1C3B-F6C4-0CA15933B696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4">
            <a:extLst>
              <a:ext uri="{FF2B5EF4-FFF2-40B4-BE49-F238E27FC236}">
                <a16:creationId xmlns:a16="http://schemas.microsoft.com/office/drawing/2014/main" id="{0361E478-A455-2EBB-6465-E628D5791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F5F98725-FBD7-7288-DD1B-6D41EDC04ED7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59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5" grpId="0"/>
      <p:bldP spid="7" grpId="0" animBg="1"/>
      <p:bldP spid="9" grpId="0"/>
      <p:bldP spid="6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5DC7-7D62-AAB9-66FC-0EACA21B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E9F2E08F-33DB-6B59-7A59-A119FF4D1576}"/>
              </a:ext>
            </a:extLst>
          </p:cNvPr>
          <p:cNvSpPr txBox="1"/>
          <p:nvPr/>
        </p:nvSpPr>
        <p:spPr>
          <a:xfrm>
            <a:off x="1099492" y="159162"/>
            <a:ext cx="1230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80292E-D712-18C4-A157-066EE97869EF}"/>
              </a:ext>
            </a:extLst>
          </p:cNvPr>
          <p:cNvSpPr txBox="1"/>
          <p:nvPr/>
        </p:nvSpPr>
        <p:spPr>
          <a:xfrm>
            <a:off x="2183177" y="191561"/>
            <a:ext cx="7280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水凝胶柔软可拉伸粘接方法及其失效的速率无关行为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1F40C2-A02E-D93A-D069-8F8C36B4CB41}"/>
              </a:ext>
            </a:extLst>
          </p:cNvPr>
          <p:cNvCxnSpPr>
            <a:cxnSpLocks/>
          </p:cNvCxnSpPr>
          <p:nvPr/>
        </p:nvCxnSpPr>
        <p:spPr>
          <a:xfrm>
            <a:off x="2183177" y="268204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0CF6832-5895-52B7-95AA-C08D98FA16F6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圆角矩形 52">
            <a:extLst>
              <a:ext uri="{FF2B5EF4-FFF2-40B4-BE49-F238E27FC236}">
                <a16:creationId xmlns:a16="http://schemas.microsoft.com/office/drawing/2014/main" id="{067C7FA2-56C2-CC73-889A-5FAF405CE26B}"/>
              </a:ext>
            </a:extLst>
          </p:cNvPr>
          <p:cNvSpPr/>
          <p:nvPr/>
        </p:nvSpPr>
        <p:spPr>
          <a:xfrm>
            <a:off x="936680" y="821556"/>
            <a:ext cx="8180024" cy="979584"/>
          </a:xfrm>
          <a:prstGeom prst="roundRect">
            <a:avLst/>
          </a:prstGeom>
          <a:solidFill>
            <a:srgbClr val="FFF7E8"/>
          </a:solidFill>
          <a:ln>
            <a:solidFill>
              <a:srgbClr val="FFF7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FCCAB64-2123-A73C-244E-FF6CAEDA3319}"/>
              </a:ext>
            </a:extLst>
          </p:cNvPr>
          <p:cNvCxnSpPr>
            <a:cxnSpLocks/>
          </p:cNvCxnSpPr>
          <p:nvPr/>
        </p:nvCxnSpPr>
        <p:spPr>
          <a:xfrm>
            <a:off x="2125656" y="1257797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49339AD-3852-C1C5-6EAC-4E531030A710}"/>
              </a:ext>
            </a:extLst>
          </p:cNvPr>
          <p:cNvCxnSpPr>
            <a:cxnSpLocks/>
          </p:cNvCxnSpPr>
          <p:nvPr/>
        </p:nvCxnSpPr>
        <p:spPr>
          <a:xfrm>
            <a:off x="3931861" y="1261546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0FD0112-DB8F-BBB9-C0A0-17B9CC343AFC}"/>
              </a:ext>
            </a:extLst>
          </p:cNvPr>
          <p:cNvCxnSpPr>
            <a:cxnSpLocks/>
          </p:cNvCxnSpPr>
          <p:nvPr/>
        </p:nvCxnSpPr>
        <p:spPr>
          <a:xfrm>
            <a:off x="5614981" y="1257797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8ABF001-E608-A1CF-0BE9-DBB23848C79F}"/>
              </a:ext>
            </a:extLst>
          </p:cNvPr>
          <p:cNvCxnSpPr>
            <a:cxnSpLocks/>
          </p:cNvCxnSpPr>
          <p:nvPr/>
        </p:nvCxnSpPr>
        <p:spPr>
          <a:xfrm>
            <a:off x="7497756" y="1257797"/>
            <a:ext cx="28228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3161E850-353D-4C42-A6B6-579C553B7ADA}"/>
              </a:ext>
            </a:extLst>
          </p:cNvPr>
          <p:cNvSpPr/>
          <p:nvPr/>
        </p:nvSpPr>
        <p:spPr>
          <a:xfrm>
            <a:off x="1040808" y="1519651"/>
            <a:ext cx="8000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riginal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56C88F-628D-E3B5-B092-9CA64E51D9DD}"/>
              </a:ext>
            </a:extLst>
          </p:cNvPr>
          <p:cNvSpPr/>
          <p:nvPr/>
        </p:nvSpPr>
        <p:spPr>
          <a:xfrm>
            <a:off x="2807929" y="1510294"/>
            <a:ext cx="6913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Stretch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38BACA-BFA9-081C-344D-64C73D0EA273}"/>
              </a:ext>
            </a:extLst>
          </p:cNvPr>
          <p:cNvSpPr/>
          <p:nvPr/>
        </p:nvSpPr>
        <p:spPr>
          <a:xfrm>
            <a:off x="4487292" y="1528603"/>
            <a:ext cx="7441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8CAC5F-2543-321D-9EA3-917AC1094C28}"/>
              </a:ext>
            </a:extLst>
          </p:cNvPr>
          <p:cNvSpPr/>
          <p:nvPr/>
        </p:nvSpPr>
        <p:spPr>
          <a:xfrm>
            <a:off x="5949960" y="1506089"/>
            <a:ext cx="15198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back layers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B4355C-EC12-8801-8031-FEAC9DB6F25E}"/>
              </a:ext>
            </a:extLst>
          </p:cNvPr>
          <p:cNvSpPr/>
          <p:nvPr/>
        </p:nvSpPr>
        <p:spPr>
          <a:xfrm>
            <a:off x="8175494" y="1510293"/>
            <a:ext cx="4804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3F2633-311C-2C16-C5F6-044A6A1583A2}"/>
              </a:ext>
            </a:extLst>
          </p:cNvPr>
          <p:cNvSpPr/>
          <p:nvPr/>
        </p:nvSpPr>
        <p:spPr>
          <a:xfrm>
            <a:off x="240333" y="822367"/>
            <a:ext cx="44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1939F5-BAD8-F2F2-684D-256DE4D39DB9}"/>
              </a:ext>
            </a:extLst>
          </p:cNvPr>
          <p:cNvSpPr/>
          <p:nvPr/>
        </p:nvSpPr>
        <p:spPr>
          <a:xfrm>
            <a:off x="240334" y="1862942"/>
            <a:ext cx="452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(b)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17BFF6-ACC8-56E7-72D3-931F64C280C4}"/>
              </a:ext>
            </a:extLst>
          </p:cNvPr>
          <p:cNvSpPr/>
          <p:nvPr/>
        </p:nvSpPr>
        <p:spPr>
          <a:xfrm>
            <a:off x="3324544" y="1871500"/>
            <a:ext cx="44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(c)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A3FFF9-1C0E-5D51-92F1-64B73F0F4EB4}"/>
              </a:ext>
            </a:extLst>
          </p:cNvPr>
          <p:cNvSpPr/>
          <p:nvPr/>
        </p:nvSpPr>
        <p:spPr>
          <a:xfrm>
            <a:off x="6355858" y="1862942"/>
            <a:ext cx="452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(d)</a:t>
            </a:r>
            <a:endParaRPr lang="zh-CN" altLang="en-US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B48DD06-7B94-37A8-F601-D82DA8388FBD}"/>
              </a:ext>
            </a:extLst>
          </p:cNvPr>
          <p:cNvSpPr/>
          <p:nvPr/>
        </p:nvSpPr>
        <p:spPr>
          <a:xfrm>
            <a:off x="240333" y="4239304"/>
            <a:ext cx="44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(e)</a:t>
            </a:r>
            <a:endParaRPr lang="zh-CN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2B3B086-C3CB-EE1E-41F7-70FD4D3C4DC7}"/>
              </a:ext>
            </a:extLst>
          </p:cNvPr>
          <p:cNvSpPr/>
          <p:nvPr/>
        </p:nvSpPr>
        <p:spPr>
          <a:xfrm>
            <a:off x="3348732" y="4246973"/>
            <a:ext cx="4145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(f)</a:t>
            </a:r>
            <a:endParaRPr lang="zh-CN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A2E6B84-5BEE-250D-CCB3-B2F3B8F69172}"/>
              </a:ext>
            </a:extLst>
          </p:cNvPr>
          <p:cNvSpPr/>
          <p:nvPr/>
        </p:nvSpPr>
        <p:spPr>
          <a:xfrm>
            <a:off x="6378786" y="4232060"/>
            <a:ext cx="452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(g)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D5C9C1F-5A5D-1D96-858D-0A2F303C2CB9}"/>
              </a:ext>
            </a:extLst>
          </p:cNvPr>
          <p:cNvSpPr txBox="1"/>
          <p:nvPr/>
        </p:nvSpPr>
        <p:spPr>
          <a:xfrm>
            <a:off x="1171293" y="5450158"/>
            <a:ext cx="1136457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6CFFB24-BF81-6DE7-42CE-8AAE6C796810}"/>
              </a:ext>
            </a:extLst>
          </p:cNvPr>
          <p:cNvSpPr txBox="1"/>
          <p:nvPr/>
        </p:nvSpPr>
        <p:spPr>
          <a:xfrm>
            <a:off x="1172125" y="5732786"/>
            <a:ext cx="1134793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21530A91-640E-5399-4EEB-FF79BC3375FF}"/>
              </a:ext>
            </a:extLst>
          </p:cNvPr>
          <p:cNvCxnSpPr>
            <a:cxnSpLocks/>
          </p:cNvCxnSpPr>
          <p:nvPr/>
        </p:nvCxnSpPr>
        <p:spPr>
          <a:xfrm>
            <a:off x="2242408" y="5578951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C7793DEE-F0A0-3B69-230D-BCD10FACD3AE}"/>
              </a:ext>
            </a:extLst>
          </p:cNvPr>
          <p:cNvCxnSpPr>
            <a:cxnSpLocks/>
          </p:cNvCxnSpPr>
          <p:nvPr/>
        </p:nvCxnSpPr>
        <p:spPr>
          <a:xfrm>
            <a:off x="2242439" y="5857407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A655D21B-F972-EF92-9909-CFF2EBD80F0A}"/>
              </a:ext>
            </a:extLst>
          </p:cNvPr>
          <p:cNvSpPr txBox="1"/>
          <p:nvPr/>
        </p:nvSpPr>
        <p:spPr>
          <a:xfrm>
            <a:off x="4226013" y="5453403"/>
            <a:ext cx="1136457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C1C091D-9E53-FFD0-24C6-A2B6552ABD75}"/>
              </a:ext>
            </a:extLst>
          </p:cNvPr>
          <p:cNvSpPr txBox="1"/>
          <p:nvPr/>
        </p:nvSpPr>
        <p:spPr>
          <a:xfrm>
            <a:off x="4288534" y="5732786"/>
            <a:ext cx="1134793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B99DBCC-99AF-F494-B020-96B1ADBE0E7B}"/>
              </a:ext>
            </a:extLst>
          </p:cNvPr>
          <p:cNvCxnSpPr>
            <a:cxnSpLocks/>
          </p:cNvCxnSpPr>
          <p:nvPr/>
        </p:nvCxnSpPr>
        <p:spPr>
          <a:xfrm>
            <a:off x="5255595" y="5578951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6E31079-DD0D-AA56-AE77-F3922063F6A3}"/>
              </a:ext>
            </a:extLst>
          </p:cNvPr>
          <p:cNvCxnSpPr>
            <a:cxnSpLocks/>
          </p:cNvCxnSpPr>
          <p:nvPr/>
        </p:nvCxnSpPr>
        <p:spPr>
          <a:xfrm>
            <a:off x="5255626" y="5857407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01EB8614-6EF0-AA33-AAC7-CE9F8CAF615F}"/>
              </a:ext>
            </a:extLst>
          </p:cNvPr>
          <p:cNvSpPr txBox="1"/>
          <p:nvPr/>
        </p:nvSpPr>
        <p:spPr>
          <a:xfrm>
            <a:off x="7243629" y="5450158"/>
            <a:ext cx="1136457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PAAm</a:t>
            </a:r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0F175E9-8B7C-D553-760A-E52F09E06658}"/>
              </a:ext>
            </a:extLst>
          </p:cNvPr>
          <p:cNvSpPr txBox="1"/>
          <p:nvPr/>
        </p:nvSpPr>
        <p:spPr>
          <a:xfrm>
            <a:off x="7243629" y="5732786"/>
            <a:ext cx="1134793" cy="25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49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PDMA hydrogel</a:t>
            </a:r>
            <a:endParaRPr lang="zh-CN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5E77BD77-745C-98F3-D03B-7B026CF73486}"/>
              </a:ext>
            </a:extLst>
          </p:cNvPr>
          <p:cNvCxnSpPr>
            <a:cxnSpLocks/>
          </p:cNvCxnSpPr>
          <p:nvPr/>
        </p:nvCxnSpPr>
        <p:spPr>
          <a:xfrm>
            <a:off x="8293680" y="5578951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D0F7437-5599-A207-5809-59ECFDE91F67}"/>
              </a:ext>
            </a:extLst>
          </p:cNvPr>
          <p:cNvCxnSpPr>
            <a:cxnSpLocks/>
          </p:cNvCxnSpPr>
          <p:nvPr/>
        </p:nvCxnSpPr>
        <p:spPr>
          <a:xfrm>
            <a:off x="8293711" y="5857407"/>
            <a:ext cx="357997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6107C75-D9E4-6470-49FF-E7B803657B54}"/>
              </a:ext>
            </a:extLst>
          </p:cNvPr>
          <p:cNvSpPr/>
          <p:nvPr/>
        </p:nvSpPr>
        <p:spPr>
          <a:xfrm>
            <a:off x="9741682" y="940010"/>
            <a:ext cx="2099407" cy="2785309"/>
          </a:xfrm>
          <a:prstGeom prst="roundRect">
            <a:avLst/>
          </a:prstGeom>
          <a:gradFill>
            <a:gsLst>
              <a:gs pos="0">
                <a:srgbClr val="E5F0FF"/>
              </a:gs>
              <a:gs pos="50000">
                <a:schemeClr val="bg1"/>
              </a:gs>
              <a:gs pos="100000">
                <a:srgbClr val="E5F0FF"/>
              </a:gs>
            </a:gsLst>
            <a:lin ang="5400000" scaled="1"/>
          </a:gradFill>
          <a:ln w="9525" cap="flat" cmpd="sng" algn="ctr">
            <a:solidFill>
              <a:schemeClr val="bg2"/>
            </a:solidFill>
            <a:prstDash val="solid"/>
            <a:miter lim="800000"/>
          </a:ln>
          <a:effectLst>
            <a:outerShdw blurRad="723900" sx="102000" sy="102000" algn="ctr" rotWithShape="0">
              <a:srgbClr val="1E2B4D">
                <a:alpha val="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330760-A41E-5CE3-7DC6-435E21AA866C}"/>
              </a:ext>
            </a:extLst>
          </p:cNvPr>
          <p:cNvSpPr txBox="1"/>
          <p:nvPr/>
        </p:nvSpPr>
        <p:spPr>
          <a:xfrm>
            <a:off x="9723006" y="1007033"/>
            <a:ext cx="2118083" cy="264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单调拉伸至 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倍原始长度、或循环拉伸至 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倍原始长度 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次后，</a:t>
            </a:r>
            <a:r>
              <a:rPr lang="en-US" altLang="zh-CN" sz="20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PAAm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拓扑粘接界面粘附能仍基本稳定。</a:t>
            </a: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D4FE2BC-28E4-545A-A0AB-7E4FCD07BC7E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4FB1CD38-2513-EEFA-F0AB-53DE27739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344247A8-4DD4-9179-C9F6-3321E771C515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21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EE4DBB98-4B35-9B91-C2DD-A841E3CA6A87}"/>
              </a:ext>
            </a:extLst>
          </p:cNvPr>
          <p:cNvSpPr txBox="1"/>
          <p:nvPr/>
        </p:nvSpPr>
        <p:spPr>
          <a:xfrm>
            <a:off x="347442" y="228546"/>
            <a:ext cx="703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en-US" altLang="zh-CN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0" name="矩形 1059">
            <a:extLst>
              <a:ext uri="{FF2B5EF4-FFF2-40B4-BE49-F238E27FC236}">
                <a16:creationId xmlns:a16="http://schemas.microsoft.com/office/drawing/2014/main" id="{15E54A2B-E1E2-7E5D-4B61-B53B616E01AA}"/>
              </a:ext>
            </a:extLst>
          </p:cNvPr>
          <p:cNvSpPr/>
          <p:nvPr/>
        </p:nvSpPr>
        <p:spPr>
          <a:xfrm>
            <a:off x="-1214" y="836860"/>
            <a:ext cx="12192000" cy="670721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1" name="文本框 1060">
            <a:extLst>
              <a:ext uri="{FF2B5EF4-FFF2-40B4-BE49-F238E27FC236}">
                <a16:creationId xmlns:a16="http://schemas.microsoft.com/office/drawing/2014/main" id="{6AE2631B-9397-94A7-AD49-8620BAEEA526}"/>
              </a:ext>
            </a:extLst>
          </p:cNvPr>
          <p:cNvSpPr txBox="1"/>
          <p:nvPr/>
        </p:nvSpPr>
        <p:spPr>
          <a:xfrm>
            <a:off x="3432352" y="918561"/>
            <a:ext cx="5302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水凝胶粘接失效的速率效应研究</a:t>
            </a:r>
          </a:p>
        </p:txBody>
      </p:sp>
      <p:sp>
        <p:nvSpPr>
          <p:cNvPr id="63" name="矩形: 圆角 31">
            <a:extLst>
              <a:ext uri="{FF2B5EF4-FFF2-40B4-BE49-F238E27FC236}">
                <a16:creationId xmlns:a16="http://schemas.microsoft.com/office/drawing/2014/main" id="{75F90AC2-FAE1-1B1C-269A-834CD57697D0}"/>
              </a:ext>
            </a:extLst>
          </p:cNvPr>
          <p:cNvSpPr/>
          <p:nvPr/>
        </p:nvSpPr>
        <p:spPr>
          <a:xfrm>
            <a:off x="243138" y="1902005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98" name="矩形: 圆角 61">
            <a:extLst>
              <a:ext uri="{FF2B5EF4-FFF2-40B4-BE49-F238E27FC236}">
                <a16:creationId xmlns:a16="http://schemas.microsoft.com/office/drawing/2014/main" id="{520E4505-F362-FEBD-3DF8-A616783E744D}"/>
              </a:ext>
            </a:extLst>
          </p:cNvPr>
          <p:cNvSpPr/>
          <p:nvPr/>
        </p:nvSpPr>
        <p:spPr>
          <a:xfrm>
            <a:off x="243223" y="5750119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59F4234-3EF8-27A0-C8EB-6ED9D30F644B}"/>
              </a:ext>
            </a:extLst>
          </p:cNvPr>
          <p:cNvSpPr txBox="1"/>
          <p:nvPr/>
        </p:nvSpPr>
        <p:spPr>
          <a:xfrm>
            <a:off x="243138" y="5800443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水凝胶非共价粘接的搭接剪切测试力学理论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圆角矩形 100">
            <a:extLst>
              <a:ext uri="{FF2B5EF4-FFF2-40B4-BE49-F238E27FC236}">
                <a16:creationId xmlns:a16="http://schemas.microsoft.com/office/drawing/2014/main" id="{6D7163C9-0679-7D6E-2860-57F59BA93A7C}"/>
              </a:ext>
            </a:extLst>
          </p:cNvPr>
          <p:cNvSpPr/>
          <p:nvPr/>
        </p:nvSpPr>
        <p:spPr>
          <a:xfrm>
            <a:off x="770235" y="5578415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创新成果一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AE695B5-6ECD-FF18-50A7-3049E5316E91}"/>
              </a:ext>
            </a:extLst>
          </p:cNvPr>
          <p:cNvSpPr txBox="1"/>
          <p:nvPr/>
        </p:nvSpPr>
        <p:spPr>
          <a:xfrm>
            <a:off x="1089689" y="164076"/>
            <a:ext cx="2062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总结与展望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FCB1A27-1190-53F5-66BB-EC1AAAC7A40B}"/>
              </a:ext>
            </a:extLst>
          </p:cNvPr>
          <p:cNvSpPr txBox="1"/>
          <p:nvPr/>
        </p:nvSpPr>
        <p:spPr>
          <a:xfrm>
            <a:off x="3032182" y="201229"/>
            <a:ext cx="2278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E771AF72-14C0-5443-EE62-67F8CEAE318C}"/>
              </a:ext>
            </a:extLst>
          </p:cNvPr>
          <p:cNvCxnSpPr>
            <a:cxnSpLocks/>
          </p:cNvCxnSpPr>
          <p:nvPr/>
        </p:nvCxnSpPr>
        <p:spPr>
          <a:xfrm>
            <a:off x="3040883" y="278076"/>
            <a:ext cx="0" cy="308377"/>
          </a:xfrm>
          <a:prstGeom prst="line">
            <a:avLst/>
          </a:prstGeom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31">
            <a:extLst>
              <a:ext uri="{FF2B5EF4-FFF2-40B4-BE49-F238E27FC236}">
                <a16:creationId xmlns:a16="http://schemas.microsoft.com/office/drawing/2014/main" id="{502D14B5-3973-4FD6-F256-BEC1D8F319C5}"/>
              </a:ext>
            </a:extLst>
          </p:cNvPr>
          <p:cNvSpPr/>
          <p:nvPr/>
        </p:nvSpPr>
        <p:spPr>
          <a:xfrm>
            <a:off x="3214786" y="1909368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9" name="矩形: 圆角 31">
            <a:extLst>
              <a:ext uri="{FF2B5EF4-FFF2-40B4-BE49-F238E27FC236}">
                <a16:creationId xmlns:a16="http://schemas.microsoft.com/office/drawing/2014/main" id="{5F0D5417-EF3E-0DA8-A1F4-9C6B4884995D}"/>
              </a:ext>
            </a:extLst>
          </p:cNvPr>
          <p:cNvSpPr/>
          <p:nvPr/>
        </p:nvSpPr>
        <p:spPr>
          <a:xfrm>
            <a:off x="6186434" y="1909368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17" name="矩形: 圆角 31">
            <a:extLst>
              <a:ext uri="{FF2B5EF4-FFF2-40B4-BE49-F238E27FC236}">
                <a16:creationId xmlns:a16="http://schemas.microsoft.com/office/drawing/2014/main" id="{FCCD9408-E1E3-D880-AE9D-AE10D34534B2}"/>
              </a:ext>
            </a:extLst>
          </p:cNvPr>
          <p:cNvSpPr/>
          <p:nvPr/>
        </p:nvSpPr>
        <p:spPr>
          <a:xfrm>
            <a:off x="9158082" y="1902005"/>
            <a:ext cx="2880000" cy="4450501"/>
          </a:xfrm>
          <a:prstGeom prst="roundRect">
            <a:avLst>
              <a:gd name="adj" fmla="val 2914"/>
            </a:avLst>
          </a:prstGeom>
          <a:solidFill>
            <a:sysClr val="window" lastClr="FFFFFF"/>
          </a:solidFill>
          <a:ln w="12700" cap="flat" cmpd="sng" algn="ctr">
            <a:solidFill>
              <a:srgbClr val="003399">
                <a:alpha val="60000"/>
              </a:srgbClr>
            </a:solidFill>
            <a:prstDash val="solid"/>
            <a:miter lim="800000"/>
          </a:ln>
          <a:effectLst>
            <a:outerShdw blurRad="482600" algn="ctr" rotWithShape="0">
              <a:srgbClr val="003399">
                <a:alpha val="1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Bold"/>
              <a:ea typeface="思源黑体 CN Bold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5F870FF-1251-EC56-4B0D-35D59F4D94DF}"/>
              </a:ext>
            </a:extLst>
          </p:cNvPr>
          <p:cNvSpPr txBox="1"/>
          <p:nvPr/>
        </p:nvSpPr>
        <p:spPr>
          <a:xfrm>
            <a:off x="218738" y="3384862"/>
            <a:ext cx="3031479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发现非共价粘接水凝胶搭接剪切失效的速率相关行为</a:t>
            </a: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揭示加载速率、搭接长度和背衬层长度的影响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32EC8A7-FFCE-E3AF-9C07-96AB77D4E1F3}"/>
              </a:ext>
            </a:extLst>
          </p:cNvPr>
          <p:cNvSpPr txBox="1"/>
          <p:nvPr/>
        </p:nvSpPr>
        <p:spPr>
          <a:xfrm>
            <a:off x="3172560" y="3358423"/>
            <a:ext cx="3031479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揭示了水凝胶</a:t>
            </a:r>
            <a:r>
              <a:rPr lang="en-US" altLang="zh-CN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刚性基底剪切脱粘过程中的速率效应</a:t>
            </a:r>
            <a:endParaRPr lang="en-US" altLang="zh-CN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阐明加载速率、未粘接长度以及水凝胶模量的影响。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E34E9D0-8721-35C2-F90B-51515D7CC2BF}"/>
              </a:ext>
            </a:extLst>
          </p:cNvPr>
          <p:cNvSpPr txBox="1"/>
          <p:nvPr/>
        </p:nvSpPr>
        <p:spPr>
          <a:xfrm>
            <a:off x="6125370" y="3358423"/>
            <a:ext cx="2941064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表征水凝胶非共价粘附</a:t>
            </a:r>
            <a:r>
              <a:rPr lang="en-US" altLang="zh-CN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180°</a:t>
            </a: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剥离的速率相关行为</a:t>
            </a: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阐释加载速率以及水凝胶模量的影响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CD7ACD6-6A92-D7FA-8E29-FBEA35F07682}"/>
              </a:ext>
            </a:extLst>
          </p:cNvPr>
          <p:cNvSpPr txBox="1"/>
          <p:nvPr/>
        </p:nvSpPr>
        <p:spPr>
          <a:xfrm>
            <a:off x="9158083" y="3358423"/>
            <a:ext cx="2879916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提出一种新的速率无关的拓扑粘接方法</a:t>
            </a:r>
            <a:endParaRPr lang="en-US" altLang="zh-CN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04" indent="-214304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该方法显著提高粘附能，并保持水凝胶的柔软性和可拉伸性</a:t>
            </a:r>
            <a:endParaRPr lang="en-US" altLang="zh-CN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: 圆角 61">
            <a:extLst>
              <a:ext uri="{FF2B5EF4-FFF2-40B4-BE49-F238E27FC236}">
                <a16:creationId xmlns:a16="http://schemas.microsoft.com/office/drawing/2014/main" id="{35068302-F2C5-699F-3071-6346D0E00D08}"/>
              </a:ext>
            </a:extLst>
          </p:cNvPr>
          <p:cNvSpPr/>
          <p:nvPr/>
        </p:nvSpPr>
        <p:spPr>
          <a:xfrm>
            <a:off x="3213230" y="5735941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0E6FE16-A746-FD0E-54ED-A79CE38A054D}"/>
              </a:ext>
            </a:extLst>
          </p:cNvPr>
          <p:cNvSpPr txBox="1"/>
          <p:nvPr/>
        </p:nvSpPr>
        <p:spPr>
          <a:xfrm>
            <a:off x="3213145" y="5786265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建立水凝胶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刚性基底非共价粘接剪切脱粘力学理论</a:t>
            </a:r>
          </a:p>
        </p:txBody>
      </p:sp>
      <p:sp>
        <p:nvSpPr>
          <p:cNvPr id="39" name="圆角矩形 100">
            <a:extLst>
              <a:ext uri="{FF2B5EF4-FFF2-40B4-BE49-F238E27FC236}">
                <a16:creationId xmlns:a16="http://schemas.microsoft.com/office/drawing/2014/main" id="{CC9B9187-EF46-531C-1222-3682E0E4AD0B}"/>
              </a:ext>
            </a:extLst>
          </p:cNvPr>
          <p:cNvSpPr/>
          <p:nvPr/>
        </p:nvSpPr>
        <p:spPr>
          <a:xfrm>
            <a:off x="3740242" y="5564237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创新成果二</a:t>
            </a:r>
          </a:p>
        </p:txBody>
      </p:sp>
      <p:sp>
        <p:nvSpPr>
          <p:cNvPr id="41" name="矩形: 圆角 61">
            <a:extLst>
              <a:ext uri="{FF2B5EF4-FFF2-40B4-BE49-F238E27FC236}">
                <a16:creationId xmlns:a16="http://schemas.microsoft.com/office/drawing/2014/main" id="{E358C0B7-0DEF-C50E-CD81-993A88BE8688}"/>
              </a:ext>
            </a:extLst>
          </p:cNvPr>
          <p:cNvSpPr/>
          <p:nvPr/>
        </p:nvSpPr>
        <p:spPr>
          <a:xfrm>
            <a:off x="6196285" y="5716265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27A3AC6-8D90-69D1-217B-C4603CD41F88}"/>
              </a:ext>
            </a:extLst>
          </p:cNvPr>
          <p:cNvSpPr txBox="1"/>
          <p:nvPr/>
        </p:nvSpPr>
        <p:spPr>
          <a:xfrm>
            <a:off x="6196200" y="5766589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构建非共价粘接水凝胶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180°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剥离力学理论</a:t>
            </a:r>
          </a:p>
        </p:txBody>
      </p:sp>
      <p:sp>
        <p:nvSpPr>
          <p:cNvPr id="45" name="圆角矩形 100">
            <a:extLst>
              <a:ext uri="{FF2B5EF4-FFF2-40B4-BE49-F238E27FC236}">
                <a16:creationId xmlns:a16="http://schemas.microsoft.com/office/drawing/2014/main" id="{546F367B-4529-8CCE-2013-7C1154577DA6}"/>
              </a:ext>
            </a:extLst>
          </p:cNvPr>
          <p:cNvSpPr/>
          <p:nvPr/>
        </p:nvSpPr>
        <p:spPr>
          <a:xfrm>
            <a:off x="6723297" y="5544561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创新成果三</a:t>
            </a:r>
          </a:p>
        </p:txBody>
      </p:sp>
      <p:sp>
        <p:nvSpPr>
          <p:cNvPr id="47" name="矩形: 圆角 61">
            <a:extLst>
              <a:ext uri="{FF2B5EF4-FFF2-40B4-BE49-F238E27FC236}">
                <a16:creationId xmlns:a16="http://schemas.microsoft.com/office/drawing/2014/main" id="{DDE8ADA5-81FB-2C33-8EFD-72A1926D01AC}"/>
              </a:ext>
            </a:extLst>
          </p:cNvPr>
          <p:cNvSpPr/>
          <p:nvPr/>
        </p:nvSpPr>
        <p:spPr>
          <a:xfrm>
            <a:off x="9169181" y="5710591"/>
            <a:ext cx="2879915" cy="609749"/>
          </a:xfrm>
          <a:prstGeom prst="roundRect">
            <a:avLst>
              <a:gd name="adj" fmla="val 223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350" kern="0">
              <a:solidFill>
                <a:prstClr val="white"/>
              </a:solidFill>
              <a:latin typeface="Roboto"/>
              <a:ea typeface="等线" panose="02010600030101010101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4D5CA2C-726C-254C-FF22-C3E18C901FE2}"/>
              </a:ext>
            </a:extLst>
          </p:cNvPr>
          <p:cNvSpPr txBox="1"/>
          <p:nvPr/>
        </p:nvSpPr>
        <p:spPr>
          <a:xfrm>
            <a:off x="9169096" y="5760915"/>
            <a:ext cx="281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通过拓扑缠结显著提高粘附能并保持被粘水凝胶柔软性</a:t>
            </a:r>
          </a:p>
        </p:txBody>
      </p:sp>
      <p:sp>
        <p:nvSpPr>
          <p:cNvPr id="54" name="圆角矩形 100">
            <a:extLst>
              <a:ext uri="{FF2B5EF4-FFF2-40B4-BE49-F238E27FC236}">
                <a16:creationId xmlns:a16="http://schemas.microsoft.com/office/drawing/2014/main" id="{D97934E9-34C2-C2E4-1773-41B3C5A1BC59}"/>
              </a:ext>
            </a:extLst>
          </p:cNvPr>
          <p:cNvSpPr/>
          <p:nvPr/>
        </p:nvSpPr>
        <p:spPr>
          <a:xfrm>
            <a:off x="9696193" y="5538887"/>
            <a:ext cx="1831624" cy="26571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创新成果四</a:t>
            </a: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C344D9A7-1B7A-87AA-930A-FD8F24F7398F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4">
            <a:extLst>
              <a:ext uri="{FF2B5EF4-FFF2-40B4-BE49-F238E27FC236}">
                <a16:creationId xmlns:a16="http://schemas.microsoft.com/office/drawing/2014/main" id="{8E06DACD-4B13-CC01-3959-05F6DD21A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5237" y="6556474"/>
            <a:ext cx="7377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881358EE-E91B-D003-A07A-51D3FC55AE00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22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22697-4EE5-2871-0CBB-E5793817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2CED6C9-406A-3A24-010B-18084D61B585}"/>
              </a:ext>
            </a:extLst>
          </p:cNvPr>
          <p:cNvCxnSpPr/>
          <p:nvPr/>
        </p:nvCxnSpPr>
        <p:spPr>
          <a:xfrm>
            <a:off x="696000" y="792005"/>
            <a:ext cx="10800000" cy="0"/>
          </a:xfrm>
          <a:prstGeom prst="line">
            <a:avLst/>
          </a:prstGeom>
          <a:noFill/>
          <a:ln w="19050" cap="flat" cmpd="sng" algn="ctr">
            <a:solidFill>
              <a:srgbClr val="003399"/>
            </a:solidFill>
            <a:prstDash val="solid"/>
            <a:miter lim="800000"/>
          </a:ln>
          <a:effectLst/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F0614F4-3325-DA73-7A82-8772D20126F5}"/>
              </a:ext>
            </a:extLst>
          </p:cNvPr>
          <p:cNvSpPr txBox="1"/>
          <p:nvPr/>
        </p:nvSpPr>
        <p:spPr>
          <a:xfrm>
            <a:off x="605181" y="871837"/>
            <a:ext cx="10667999" cy="5818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b="1" kern="1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Yin D</a:t>
            </a:r>
            <a:r>
              <a:rPr lang="en-US" altLang="zh-CN" kern="1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Bai J, Shen Z, et al. A coupled viscoelastic-damage model for rate-dependent noncovalent hydrogel adhesion under lap shear: theory and experiments[J]. </a:t>
            </a:r>
            <a:r>
              <a:rPr lang="en-US" altLang="zh-CN" b="1" i="1" kern="100" dirty="0">
                <a:solidFill>
                  <a:srgbClr val="003399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Journal of the Mechanics and Physics of Solids</a:t>
            </a:r>
            <a:r>
              <a:rPr lang="en-US" altLang="zh-CN" kern="1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2026, 211: 106562.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Yin 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Ma J, Shen Z, et al. Soft stretchable topological adhesion of hydrogels[J]. </a:t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Extreme Mechanics Letters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2025, 78: 102373.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Yin 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Yan S, Bai J, et al. Rate-Dependent Shear Debonding of Hydrogels from Rigid Substrates via Noncovalent Adhesion: Simulations and Experiments[J]. </a:t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Acta </a:t>
            </a:r>
            <a:r>
              <a:rPr lang="en-US" altLang="zh-CN" sz="1800" b="1" i="1" kern="100" dirty="0" err="1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Mechanica</a:t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Sinica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2026.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Cai Y*,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Yin 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*, Bai J*, et al. Toughening mechanism of macroscale heterogeneous soft materials: a systematic study from the perspective of energy release rate[J]. </a:t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Journal of the Mechanics and Physics of Solids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2025, 203: 106243.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Ma J,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Yin 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Sheng Z, et al. Delayed tensile instabilities of hydrogels[J]. </a:t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Journal of the Mechanics and Physics of Solids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2022, 168: 105052.</a:t>
            </a:r>
          </a:p>
          <a:p>
            <a:pPr marL="342900" lvl="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Bai J,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Yin 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Cai Y, et al. Dual-mode tension-shear model for soft staggered composites[J]. </a:t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International Journal of Mechanical Sciences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2025, 306: 110818.</a:t>
            </a:r>
          </a:p>
          <a:p>
            <a:pPr marL="342900" lvl="0" indent="-342900" algn="just">
              <a:lnSpc>
                <a:spcPct val="130000"/>
              </a:lnSpc>
              <a:buFont typeface="Wingdings" panose="05000000000000000000" pitchFamily="2" charset="2"/>
              <a:buChar char="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Ma J*, Zhang X*,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Yin 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et al. Designing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Ultratough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Single Network Hydrogels with Centimeter-Scale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Fractocohesive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Lengths via Inelastic Crack Blunting[J]. </a:t>
            </a:r>
            <a:r>
              <a:rPr lang="en-US" altLang="zh-CN" sz="1800" b="1" i="1" kern="100" dirty="0">
                <a:solidFill>
                  <a:srgbClr val="003399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Advanced Materials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, 2024: 2311795.</a:t>
            </a:r>
          </a:p>
        </p:txBody>
      </p:sp>
      <p:pic>
        <p:nvPicPr>
          <p:cNvPr id="2" name="Picture 4" descr="浙江大学- 维基百科，自由的百科全书">
            <a:extLst>
              <a:ext uri="{FF2B5EF4-FFF2-40B4-BE49-F238E27FC236}">
                <a16:creationId xmlns:a16="http://schemas.microsoft.com/office/drawing/2014/main" id="{E0ED3B49-9E35-C1A7-4321-0FC4AED07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3180" y="-2209"/>
            <a:ext cx="709270" cy="70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B320B6-8C1D-326B-1EAE-93EBABA94C6A}"/>
              </a:ext>
            </a:extLst>
          </p:cNvPr>
          <p:cNvSpPr txBox="1"/>
          <p:nvPr/>
        </p:nvSpPr>
        <p:spPr>
          <a:xfrm>
            <a:off x="0" y="1273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读博期间主要成果</a:t>
            </a: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E64C5D48-9D63-6B1C-52BC-3BACDFB1ACEA}"/>
              </a:ext>
            </a:extLst>
          </p:cNvPr>
          <p:cNvSpPr/>
          <p:nvPr/>
        </p:nvSpPr>
        <p:spPr>
          <a:xfrm>
            <a:off x="11334992" y="6550025"/>
            <a:ext cx="1030839" cy="307975"/>
          </a:xfrm>
          <a:prstGeom prst="parallelogram">
            <a:avLst>
              <a:gd name="adj" fmla="val 39691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8455C83F-2391-B7D1-3354-886A088D2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2340" y="6556474"/>
            <a:ext cx="8435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CDC9AD0-CB9B-482F-8454-4D3B85F9799A}" type="slidenum">
              <a:rPr lang="zh-CN" altLang="en-US" sz="1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46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6E6E4BBA-211B-DC79-8F57-65B8AD269A93}"/>
              </a:ext>
            </a:extLst>
          </p:cNvPr>
          <p:cNvSpPr/>
          <p:nvPr/>
        </p:nvSpPr>
        <p:spPr>
          <a:xfrm>
            <a:off x="11273753" y="6481764"/>
            <a:ext cx="302970" cy="265762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03399">
                  <a:alpha val="28000"/>
                </a:srgbClr>
              </a:gs>
              <a:gs pos="100000">
                <a:srgbClr val="003399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79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背景图案&#10;&#10;描述已自动生成">
            <a:extLst>
              <a:ext uri="{FF2B5EF4-FFF2-40B4-BE49-F238E27FC236}">
                <a16:creationId xmlns:a16="http://schemas.microsoft.com/office/drawing/2014/main" id="{15D6CBFB-7544-8FB4-0403-2A02E34903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6096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D0D9E4BE-AD83-6640-CF21-6C0E117A8DF9}"/>
              </a:ext>
            </a:extLst>
          </p:cNvPr>
          <p:cNvSpPr/>
          <p:nvPr/>
        </p:nvSpPr>
        <p:spPr>
          <a:xfrm>
            <a:off x="-1" y="-3261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6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9D8219B7-65A6-1354-1322-067D53A8C80F}"/>
              </a:ext>
            </a:extLst>
          </p:cNvPr>
          <p:cNvSpPr/>
          <p:nvPr/>
        </p:nvSpPr>
        <p:spPr>
          <a:xfrm>
            <a:off x="91394" y="994363"/>
            <a:ext cx="12009212" cy="2207802"/>
          </a:xfrm>
          <a:custGeom>
            <a:avLst/>
            <a:gdLst>
              <a:gd name="connsiteX0" fmla="*/ 0 w 12009212"/>
              <a:gd name="connsiteY0" fmla="*/ 0 h 2262459"/>
              <a:gd name="connsiteX1" fmla="*/ 2983585 w 12009212"/>
              <a:gd name="connsiteY1" fmla="*/ 0 h 2262459"/>
              <a:gd name="connsiteX2" fmla="*/ 3042361 w 12009212"/>
              <a:gd name="connsiteY2" fmla="*/ 136729 h 2262459"/>
              <a:gd name="connsiteX3" fmla="*/ 8966851 w 12009212"/>
              <a:gd name="connsiteY3" fmla="*/ 136729 h 2262459"/>
              <a:gd name="connsiteX4" fmla="*/ 9025627 w 12009212"/>
              <a:gd name="connsiteY4" fmla="*/ 0 h 2262459"/>
              <a:gd name="connsiteX5" fmla="*/ 12009212 w 12009212"/>
              <a:gd name="connsiteY5" fmla="*/ 0 h 2262459"/>
              <a:gd name="connsiteX6" fmla="*/ 11925747 w 12009212"/>
              <a:gd name="connsiteY6" fmla="*/ 194164 h 2262459"/>
              <a:gd name="connsiteX7" fmla="*/ 11910106 w 12009212"/>
              <a:gd name="connsiteY7" fmla="*/ 194164 h 2262459"/>
              <a:gd name="connsiteX8" fmla="*/ 11910106 w 12009212"/>
              <a:gd name="connsiteY8" fmla="*/ 2262459 h 2262459"/>
              <a:gd name="connsiteX9" fmla="*/ 99106 w 12009212"/>
              <a:gd name="connsiteY9" fmla="*/ 2262459 h 2262459"/>
              <a:gd name="connsiteX10" fmla="*/ 99106 w 12009212"/>
              <a:gd name="connsiteY10" fmla="*/ 194164 h 2262459"/>
              <a:gd name="connsiteX11" fmla="*/ 83465 w 12009212"/>
              <a:gd name="connsiteY11" fmla="*/ 194164 h 226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09212" h="2262459">
                <a:moveTo>
                  <a:pt x="0" y="0"/>
                </a:moveTo>
                <a:lnTo>
                  <a:pt x="2983585" y="0"/>
                </a:lnTo>
                <a:lnTo>
                  <a:pt x="3042361" y="136729"/>
                </a:lnTo>
                <a:lnTo>
                  <a:pt x="8966851" y="136729"/>
                </a:lnTo>
                <a:lnTo>
                  <a:pt x="9025627" y="0"/>
                </a:lnTo>
                <a:lnTo>
                  <a:pt x="12009212" y="0"/>
                </a:lnTo>
                <a:lnTo>
                  <a:pt x="11925747" y="194164"/>
                </a:lnTo>
                <a:lnTo>
                  <a:pt x="11910106" y="194164"/>
                </a:lnTo>
                <a:lnTo>
                  <a:pt x="11910106" y="2262459"/>
                </a:lnTo>
                <a:lnTo>
                  <a:pt x="99106" y="2262459"/>
                </a:lnTo>
                <a:lnTo>
                  <a:pt x="99106" y="194164"/>
                </a:lnTo>
                <a:lnTo>
                  <a:pt x="83465" y="194164"/>
                </a:lnTo>
                <a:close/>
              </a:path>
            </a:pathLst>
          </a:custGeom>
          <a:gradFill flip="none" rotWithShape="1">
            <a:gsLst>
              <a:gs pos="50000">
                <a:schemeClr val="bg1">
                  <a:alpha val="95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gradFill flip="none" rotWithShape="1">
              <a:gsLst>
                <a:gs pos="8000">
                  <a:srgbClr val="003399">
                    <a:alpha val="0"/>
                  </a:srgbClr>
                </a:gs>
                <a:gs pos="50000">
                  <a:srgbClr val="003399">
                    <a:alpha val="50000"/>
                  </a:srgbClr>
                </a:gs>
                <a:gs pos="92000">
                  <a:srgbClr val="003399">
                    <a:alpha val="0"/>
                  </a:srgbClr>
                </a:gs>
              </a:gsLst>
              <a:lin ang="0" scaled="1"/>
              <a:tileRect/>
            </a:gra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B13FE29-7BDC-32DB-EBD7-F9252B1418DC}"/>
              </a:ext>
            </a:extLst>
          </p:cNvPr>
          <p:cNvGrpSpPr/>
          <p:nvPr/>
        </p:nvGrpSpPr>
        <p:grpSpPr>
          <a:xfrm>
            <a:off x="9130481" y="1031902"/>
            <a:ext cx="448367" cy="111507"/>
            <a:chOff x="9095556" y="1155574"/>
            <a:chExt cx="448367" cy="111507"/>
          </a:xfrm>
        </p:grpSpPr>
        <p:sp>
          <p:nvSpPr>
            <p:cNvPr id="37" name="PA-平行四边形 103">
              <a:extLst>
                <a:ext uri="{FF2B5EF4-FFF2-40B4-BE49-F238E27FC236}">
                  <a16:creationId xmlns:a16="http://schemas.microsoft.com/office/drawing/2014/main" id="{D6022A4C-EB3B-4112-112B-79BDC4E152C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H="1" flipV="1">
              <a:off x="9095556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38" name="PA-平行四边形 103">
              <a:extLst>
                <a:ext uri="{FF2B5EF4-FFF2-40B4-BE49-F238E27FC236}">
                  <a16:creationId xmlns:a16="http://schemas.microsoft.com/office/drawing/2014/main" id="{FF867C18-EE79-6DB4-E24B-F6C37982C8C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H="1" flipV="1">
              <a:off x="9203303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15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39" name="PA-平行四边形 103">
              <a:extLst>
                <a:ext uri="{FF2B5EF4-FFF2-40B4-BE49-F238E27FC236}">
                  <a16:creationId xmlns:a16="http://schemas.microsoft.com/office/drawing/2014/main" id="{0A348F33-56D8-49AB-C398-9B32466B897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H="1" flipV="1">
              <a:off x="9311050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22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  <p:sp>
          <p:nvSpPr>
            <p:cNvPr id="40" name="PA-平行四边形 103">
              <a:extLst>
                <a:ext uri="{FF2B5EF4-FFF2-40B4-BE49-F238E27FC236}">
                  <a16:creationId xmlns:a16="http://schemas.microsoft.com/office/drawing/2014/main" id="{E8FBC7ED-E735-DF89-DDE2-A6DBEA6E6C0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flipH="1" flipV="1">
              <a:off x="9418797" y="1155574"/>
              <a:ext cx="125126" cy="111507"/>
            </a:xfrm>
            <a:prstGeom prst="parallelogram">
              <a:avLst>
                <a:gd name="adj" fmla="val 47295"/>
              </a:avLst>
            </a:prstGeom>
            <a:solidFill>
              <a:srgbClr val="003399">
                <a:alpha val="37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 Light"/>
                <a:cs typeface="+mn-cs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4A3A2E8-87F2-54AA-839C-B5BEA4C150F8}"/>
              </a:ext>
            </a:extLst>
          </p:cNvPr>
          <p:cNvGrpSpPr/>
          <p:nvPr/>
        </p:nvGrpSpPr>
        <p:grpSpPr>
          <a:xfrm>
            <a:off x="7610488" y="3102726"/>
            <a:ext cx="3601087" cy="236081"/>
            <a:chOff x="7736114" y="3254973"/>
            <a:chExt cx="3601087" cy="236081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1A930DEE-C22E-F6FA-18BC-5A827C282322}"/>
                </a:ext>
              </a:extLst>
            </p:cNvPr>
            <p:cNvSpPr/>
            <p:nvPr/>
          </p:nvSpPr>
          <p:spPr>
            <a:xfrm>
              <a:off x="7736114" y="3254973"/>
              <a:ext cx="3549650" cy="184150"/>
            </a:xfrm>
            <a:custGeom>
              <a:avLst/>
              <a:gdLst>
                <a:gd name="connsiteX0" fmla="*/ 0 w 3549650"/>
                <a:gd name="connsiteY0" fmla="*/ 0 h 184150"/>
                <a:gd name="connsiteX1" fmla="*/ 3365500 w 3549650"/>
                <a:gd name="connsiteY1" fmla="*/ 0 h 184150"/>
                <a:gd name="connsiteX2" fmla="*/ 3549650 w 3549650"/>
                <a:gd name="connsiteY2" fmla="*/ 1841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49650" h="184150">
                  <a:moveTo>
                    <a:pt x="0" y="0"/>
                  </a:moveTo>
                  <a:lnTo>
                    <a:pt x="3365500" y="0"/>
                  </a:lnTo>
                  <a:lnTo>
                    <a:pt x="3549650" y="18415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6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3056798-320F-8F64-01A6-7C6D2DC4F7CB}"/>
                </a:ext>
              </a:extLst>
            </p:cNvPr>
            <p:cNvSpPr/>
            <p:nvPr/>
          </p:nvSpPr>
          <p:spPr>
            <a:xfrm>
              <a:off x="11272431" y="3426284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A1F1163-F9C6-0C59-0221-3207060E6B0D}"/>
              </a:ext>
            </a:extLst>
          </p:cNvPr>
          <p:cNvGrpSpPr/>
          <p:nvPr/>
        </p:nvGrpSpPr>
        <p:grpSpPr>
          <a:xfrm>
            <a:off x="980426" y="3062735"/>
            <a:ext cx="2912079" cy="213361"/>
            <a:chOff x="3707890" y="5082225"/>
            <a:chExt cx="2912079" cy="213361"/>
          </a:xfrm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10C001D3-EDDA-7B63-B704-ABB0A7E057C0}"/>
                </a:ext>
              </a:extLst>
            </p:cNvPr>
            <p:cNvSpPr/>
            <p:nvPr/>
          </p:nvSpPr>
          <p:spPr>
            <a:xfrm>
              <a:off x="3756785" y="5136836"/>
              <a:ext cx="2794000" cy="158750"/>
            </a:xfrm>
            <a:custGeom>
              <a:avLst/>
              <a:gdLst>
                <a:gd name="connsiteX0" fmla="*/ 4743450 w 4743450"/>
                <a:gd name="connsiteY0" fmla="*/ 158750 h 158750"/>
                <a:gd name="connsiteX1" fmla="*/ 158750 w 4743450"/>
                <a:gd name="connsiteY1" fmla="*/ 158750 h 158750"/>
                <a:gd name="connsiteX2" fmla="*/ 0 w 4743450"/>
                <a:gd name="connsiteY2" fmla="*/ 0 h 158750"/>
                <a:gd name="connsiteX0" fmla="*/ 4743450 w 4743450"/>
                <a:gd name="connsiteY0" fmla="*/ 158750 h 158750"/>
                <a:gd name="connsiteX1" fmla="*/ 2794000 w 4743450"/>
                <a:gd name="connsiteY1" fmla="*/ 158670 h 158750"/>
                <a:gd name="connsiteX2" fmla="*/ 158750 w 4743450"/>
                <a:gd name="connsiteY2" fmla="*/ 158750 h 158750"/>
                <a:gd name="connsiteX3" fmla="*/ 0 w 4743450"/>
                <a:gd name="connsiteY3" fmla="*/ 0 h 158750"/>
                <a:gd name="connsiteX0" fmla="*/ 2794000 w 2794000"/>
                <a:gd name="connsiteY0" fmla="*/ 158670 h 158750"/>
                <a:gd name="connsiteX1" fmla="*/ 158750 w 2794000"/>
                <a:gd name="connsiteY1" fmla="*/ 158750 h 158750"/>
                <a:gd name="connsiteX2" fmla="*/ 0 w 2794000"/>
                <a:gd name="connsiteY2" fmla="*/ 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0" h="158750">
                  <a:moveTo>
                    <a:pt x="2794000" y="158670"/>
                  </a:moveTo>
                  <a:lnTo>
                    <a:pt x="158750" y="158750"/>
                  </a:lnTo>
                  <a:lnTo>
                    <a:pt x="0" y="0"/>
                  </a:lnTo>
                </a:path>
              </a:pathLst>
            </a:custGeom>
            <a:noFill/>
            <a:ln>
              <a:gradFill flip="none" rotWithShape="1">
                <a:gsLst>
                  <a:gs pos="0">
                    <a:srgbClr val="003399">
                      <a:alpha val="50000"/>
                    </a:srgbClr>
                  </a:gs>
                  <a:gs pos="100000">
                    <a:srgbClr val="003399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6E906BBB-3378-5F9A-2A5E-26D4A914D081}"/>
                </a:ext>
              </a:extLst>
            </p:cNvPr>
            <p:cNvSpPr/>
            <p:nvPr/>
          </p:nvSpPr>
          <p:spPr>
            <a:xfrm>
              <a:off x="4029169" y="5206686"/>
              <a:ext cx="2590800" cy="0"/>
            </a:xfrm>
            <a:custGeom>
              <a:avLst/>
              <a:gdLst>
                <a:gd name="connsiteX0" fmla="*/ 0 w 2590800"/>
                <a:gd name="connsiteY0" fmla="*/ 0 h 0"/>
                <a:gd name="connsiteX1" fmla="*/ 2590800 w 25908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90800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61A5225C-94CC-4120-900B-6684FA8282C8}"/>
                </a:ext>
              </a:extLst>
            </p:cNvPr>
            <p:cNvSpPr/>
            <p:nvPr/>
          </p:nvSpPr>
          <p:spPr>
            <a:xfrm>
              <a:off x="3707890" y="5082225"/>
              <a:ext cx="64770" cy="64770"/>
            </a:xfrm>
            <a:prstGeom prst="ellipse">
              <a:avLst/>
            </a:prstGeom>
            <a:noFill/>
            <a:ln>
              <a:solidFill>
                <a:srgbClr val="003399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170F341-71D0-EF00-353E-639F6273D2CE}"/>
              </a:ext>
            </a:extLst>
          </p:cNvPr>
          <p:cNvSpPr txBox="1"/>
          <p:nvPr/>
        </p:nvSpPr>
        <p:spPr>
          <a:xfrm>
            <a:off x="4595476" y="4911093"/>
            <a:ext cx="4787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Picture 4" descr="浙江大学- 维基百科，自由的百科全书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1686" y="305077"/>
            <a:ext cx="1344705" cy="1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F471530-E95B-9289-883B-659FE9AB3C66}"/>
              </a:ext>
            </a:extLst>
          </p:cNvPr>
          <p:cNvSpPr txBox="1"/>
          <p:nvPr/>
        </p:nvSpPr>
        <p:spPr>
          <a:xfrm>
            <a:off x="2324911" y="4894161"/>
            <a:ext cx="7542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浙江大学 航空航天学院 应用力学研究所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AB6A64-4D15-80D4-7F97-2CB9E20ACC8E}"/>
              </a:ext>
            </a:extLst>
          </p:cNvPr>
          <p:cNvSpPr txBox="1"/>
          <p:nvPr/>
        </p:nvSpPr>
        <p:spPr>
          <a:xfrm>
            <a:off x="4402783" y="5546318"/>
            <a:ext cx="3386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21F57A-76E6-B15D-7A21-CDABCC9279AA}"/>
              </a:ext>
            </a:extLst>
          </p:cNvPr>
          <p:cNvSpPr txBox="1"/>
          <p:nvPr/>
        </p:nvSpPr>
        <p:spPr>
          <a:xfrm>
            <a:off x="1150914" y="1583703"/>
            <a:ext cx="98901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敬请各位老师批评指正！</a:t>
            </a:r>
            <a:endParaRPr lang="zh-CN" altLang="en-US" sz="7200" dirty="0">
              <a:solidFill>
                <a:srgbClr val="003399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BE9D014-A263-EAC3-4C19-106269A20FE7}"/>
              </a:ext>
            </a:extLst>
          </p:cNvPr>
          <p:cNvGrpSpPr/>
          <p:nvPr/>
        </p:nvGrpSpPr>
        <p:grpSpPr>
          <a:xfrm>
            <a:off x="4402772" y="3549573"/>
            <a:ext cx="3386434" cy="561322"/>
            <a:chOff x="4730750" y="3711267"/>
            <a:chExt cx="2730500" cy="56132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A0B17E5-CDF1-6B21-68A2-20C59EEE5C6D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2B1953D-63D0-7AA0-2EBA-C9D52D16E10A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8BBFF64-B925-1443-9DAE-6E7EABE4B95A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答辩人：尹道晨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D50967-B4F6-48C7-A94B-AA6548128241}"/>
              </a:ext>
            </a:extLst>
          </p:cNvPr>
          <p:cNvGrpSpPr/>
          <p:nvPr/>
        </p:nvGrpSpPr>
        <p:grpSpPr>
          <a:xfrm>
            <a:off x="4402771" y="4212752"/>
            <a:ext cx="3386434" cy="561322"/>
            <a:chOff x="4730750" y="3711267"/>
            <a:chExt cx="2730500" cy="56132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E6567F5-6450-45E4-6613-096599714F92}"/>
                </a:ext>
              </a:extLst>
            </p:cNvPr>
            <p:cNvSpPr/>
            <p:nvPr/>
          </p:nvSpPr>
          <p:spPr>
            <a:xfrm>
              <a:off x="4730750" y="3749369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E4E4EC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8241E21-44C1-B245-BDD5-E0E099B11EFE}"/>
                </a:ext>
              </a:extLst>
            </p:cNvPr>
            <p:cNvSpPr/>
            <p:nvPr/>
          </p:nvSpPr>
          <p:spPr>
            <a:xfrm>
              <a:off x="4730750" y="3711267"/>
              <a:ext cx="2730500" cy="523220"/>
            </a:xfrm>
            <a:prstGeom prst="roundRect">
              <a:avLst>
                <a:gd name="adj" fmla="val 50000"/>
              </a:avLst>
            </a:prstGeom>
            <a:solidFill>
              <a:srgbClr val="003399"/>
            </a:solidFill>
            <a:ln w="12700">
              <a:noFill/>
            </a:ln>
            <a:effectLst>
              <a:outerShdw blurRad="215900" dist="165100" dir="2700000" sx="90000" sy="90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0" rIns="0" bIns="36000" rtlCol="0" anchor="ctr"/>
            <a:lstStyle/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5D71225-7E1C-3189-5A6A-E2AD26F25ADF}"/>
                </a:ext>
              </a:extLst>
            </p:cNvPr>
            <p:cNvSpPr txBox="1"/>
            <p:nvPr/>
          </p:nvSpPr>
          <p:spPr>
            <a:xfrm>
              <a:off x="4838700" y="3726656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指导老师：贾铮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78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19828</TotalTime>
  <Words>1586</Words>
  <Application>Microsoft Office PowerPoint</Application>
  <PresentationFormat>宽屏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等线</vt:lpstr>
      <vt:lpstr>等线 Light</vt:lpstr>
      <vt:lpstr>仿宋</vt:lpstr>
      <vt:lpstr>KaiTi</vt:lpstr>
      <vt:lpstr>Microsoft YaHei</vt:lpstr>
      <vt:lpstr>Microsoft YaHei</vt:lpstr>
      <vt:lpstr>OPPOSans R</vt:lpstr>
      <vt:lpstr>Roboto Bold</vt:lpstr>
      <vt:lpstr>Roboto Regular</vt:lpstr>
      <vt:lpstr>黑体</vt:lpstr>
      <vt:lpstr>Arial</vt:lpstr>
      <vt:lpstr>Calibri</vt:lpstr>
      <vt:lpstr>Roboto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一铭 罗</dc:creator>
  <cp:lastModifiedBy>Jun Pei</cp:lastModifiedBy>
  <cp:revision>2043</cp:revision>
  <dcterms:created xsi:type="dcterms:W3CDTF">2023-04-17T02:26:25Z</dcterms:created>
  <dcterms:modified xsi:type="dcterms:W3CDTF">2026-09-22T09:29:42Z</dcterms:modified>
</cp:coreProperties>
</file>